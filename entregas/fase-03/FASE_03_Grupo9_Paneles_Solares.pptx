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55664" y="402336"/>
            <a:ext cx="2212848" cy="2304288"/>
          </a:xfrm>
          <a:prstGeom prst="roundRect">
            <a:avLst>
              <a:gd name="adj" fmla="val 1653"/>
            </a:avLst>
          </a:prstGeom>
          <a:solidFill>
            <a:srgbClr val="1C3949"/>
          </a:solidFill>
          <a:ln w="12700">
            <a:solidFill>
              <a:srgbClr val="2A50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5303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732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2161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5590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9019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2448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26580" y="5303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26580" y="8732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26580" y="12161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26580" y="15590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26580" y="19019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6580" y="22448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5303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8732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2161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5590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19019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22448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2380" y="5303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2380" y="8732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12380" y="12161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12380" y="15590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12380" y="19019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2380" y="22448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5303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8732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2161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15590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19019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2448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8180" y="5303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8180" y="8732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8180" y="12161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8180" y="15590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8180" y="19019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98180" y="2244852"/>
            <a:ext cx="301752" cy="301752"/>
          </a:xfrm>
          <a:prstGeom prst="rect">
            <a:avLst/>
          </a:prstGeom>
          <a:solidFill>
            <a:srgbClr val="0F2233"/>
          </a:solidFill>
          <a:ln w="6350">
            <a:solidFill>
              <a:srgbClr val="2047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1577340"/>
            <a:ext cx="1956816" cy="18288"/>
          </a:xfrm>
          <a:prstGeom prst="rect">
            <a:avLst/>
          </a:prstGeom>
          <a:solidFill>
            <a:srgbClr val="2A50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2779776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40" kern="0" dirty="0">
                <a:solidFill>
                  <a:srgbClr val="7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CELDAS HALF-CUT  ·  2.278 × 1.134 mm  ·  2,58 m²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836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 ·  EQUIPOS, FABRICACIÓN Y CONSUMOS ESPECÍFICOS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932688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PLANTA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CONSUMOS ESPECÍFICOS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502920" y="212140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fotovoltaico monocristalino PERC  ·  Planta de 100 MWp/año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2505456"/>
            <a:ext cx="1005840" cy="22860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26334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spc="80" kern="0" dirty="0">
                <a:solidFill>
                  <a:srgbClr val="8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  ·   UTN FRLP   ·   INSTALACIONES INDUSTRIALES   ·   ING. SANTIAGO SACCON   ·   2026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02920" y="3163824"/>
            <a:ext cx="1947672" cy="969264"/>
          </a:xfrm>
          <a:prstGeom prst="roundRect">
            <a:avLst>
              <a:gd name="adj" fmla="val 4717"/>
            </a:avLst>
          </a:prstGeom>
          <a:solidFill>
            <a:srgbClr val="1C3949"/>
          </a:solidFill>
          <a:ln w="9525">
            <a:solidFill>
              <a:srgbClr val="2A5062"/>
            </a:solidFill>
            <a:prstDash val="solid"/>
          </a:ln>
          <a:effectLst>
            <a:outerShdw sx="100000" sy="100000" kx="0" ky="0" algn="bl" rotWithShape="0" blurRad="127000" dist="19050" dir="5400000">
              <a:srgbClr val="9FB0B8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" y="3282696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334670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Wp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12648" y="3712464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D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por módulo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578608" y="3163824"/>
            <a:ext cx="1947672" cy="969264"/>
          </a:xfrm>
          <a:prstGeom prst="roundRect">
            <a:avLst>
              <a:gd name="adj" fmla="val 4717"/>
            </a:avLst>
          </a:prstGeom>
          <a:solidFill>
            <a:srgbClr val="1C3949"/>
          </a:solidFill>
          <a:ln w="9525">
            <a:solidFill>
              <a:srgbClr val="2A5062"/>
            </a:solidFill>
            <a:prstDash val="solid"/>
          </a:ln>
          <a:effectLst>
            <a:outerShdw sx="100000" sy="100000" kx="0" ky="0" algn="bl" rotWithShape="0" blurRad="1612900000" dist="241935000" dir="324000000000">
              <a:srgbClr val="9FB0B8">
                <a:alpha val="220000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697480" y="3282696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334670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185.185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mód/año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2688336" y="3712464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D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nominal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4654296" y="3163824"/>
            <a:ext cx="1947672" cy="969264"/>
          </a:xfrm>
          <a:prstGeom prst="roundRect">
            <a:avLst>
              <a:gd name="adj" fmla="val 4717"/>
            </a:avLst>
          </a:prstGeom>
          <a:solidFill>
            <a:srgbClr val="1C3949"/>
          </a:solidFill>
          <a:ln w="9525">
            <a:solidFill>
              <a:srgbClr val="2A5062"/>
            </a:solidFill>
            <a:prstDash val="solid"/>
          </a:ln>
          <a:effectLst>
            <a:outerShdw sx="100000" sy="100000" kx="0" ky="0" algn="bl" rotWithShape="0" blurRad="20483830000000" dist="3072574500000" dir="19440000000000000">
              <a:srgbClr val="9FB0B8">
                <a:alpha val="2200000000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73168" y="3282696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64024" y="334670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mód/h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4764024" y="3712464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D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de línea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6729984" y="3163824"/>
            <a:ext cx="1947672" cy="969264"/>
          </a:xfrm>
          <a:prstGeom prst="roundRect">
            <a:avLst>
              <a:gd name="adj" fmla="val 4717"/>
            </a:avLst>
          </a:prstGeom>
          <a:solidFill>
            <a:srgbClr val="1C3949"/>
          </a:solidFill>
          <a:ln w="9525">
            <a:solidFill>
              <a:srgbClr val="2A5062"/>
            </a:solidFill>
            <a:prstDash val="solid"/>
          </a:ln>
          <a:effectLst>
            <a:outerShdw sx="100000" sy="100000" kx="0" ky="0" algn="bl" rotWithShape="0" blurRad="260144641000000000" dist="39021696150000000" dir="1.1664e+21">
              <a:srgbClr val="9FB0B8">
                <a:alpha val="2200000000000000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48856" y="3282696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9712" y="3346704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408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kW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6839712" y="3712464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9D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instalada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02920" y="437083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E8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de ingeniería conceptual estimados, a validar con la base de cálculo Excel y catálogos de proveedor.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DEFINICIÓN DEL PRODUCTO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DEL PANEL Y CAPACIDAD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2057400" cy="354787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3.3038369407e+21" dist="495575541105000000000" dir="6.9984e+25">
              <a:srgbClr val="9FB0B8">
                <a:alpha val="2.2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" y="1115568"/>
            <a:ext cx="45720" cy="3364992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33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9808" y="1417320"/>
            <a:ext cx="1325880" cy="2560320"/>
          </a:xfrm>
          <a:prstGeom prst="roundRect">
            <a:avLst>
              <a:gd name="adj" fmla="val 1379"/>
            </a:avLst>
          </a:prstGeom>
          <a:solidFill>
            <a:srgbClr val="E9EDEF"/>
          </a:solidFill>
          <a:ln w="9525">
            <a:solidFill>
              <a:srgbClr val="7888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" y="146761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168158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189555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" y="210952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" y="232349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" y="253746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" y="275143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" y="296539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" y="317936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" y="339333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" y="360730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" y="382127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070" y="146761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070" y="168158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070" y="189555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070" y="210952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070" y="232349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070" y="253746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070" y="275143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070" y="296539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070" y="317936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070" y="339333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4070" y="360730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4070" y="382127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28039" y="146761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28039" y="168158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28039" y="189555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28039" y="210952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28039" y="232349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8039" y="253746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28039" y="275143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28039" y="296539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28039" y="317936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28039" y="339333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28039" y="360730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28039" y="382127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42009" y="146761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42009" y="168158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42009" y="189555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42009" y="210952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42009" y="232349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42009" y="253746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42009" y="275143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42009" y="296539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42009" y="317936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42009" y="339333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42009" y="360730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42009" y="382127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55978" y="146761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55978" y="168158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55978" y="189555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55978" y="210952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55978" y="232349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55978" y="253746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55978" y="275143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55978" y="296539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55978" y="317936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55978" y="339333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655978" y="360730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655978" y="382127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69948" y="146761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69948" y="1681582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69948" y="189555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69948" y="2109521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69948" y="232349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69948" y="253746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69948" y="2751430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869948" y="296539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69948" y="3179369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69948" y="339333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69948" y="360730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69948" y="3821278"/>
            <a:ext cx="194767" cy="194767"/>
          </a:xfrm>
          <a:prstGeom prst="rect">
            <a:avLst/>
          </a:prstGeom>
          <a:solidFill>
            <a:srgbClr val="1C3949"/>
          </a:solidFill>
          <a:ln w="6350">
            <a:solidFill>
              <a:srgbClr val="2A506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0100" y="2697480"/>
            <a:ext cx="1243584" cy="22860"/>
          </a:xfrm>
          <a:prstGeom prst="rect">
            <a:avLst/>
          </a:prstGeom>
          <a:solidFill>
            <a:srgbClr val="E9ED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4041648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celdas half-cut M10 (182 mm)</a:t>
            </a:r>
            <a:endParaRPr lang="en-US" sz="72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2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2.278 × 1.134 mm  ·  28,3 kg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2551176" y="1024128"/>
            <a:ext cx="2743200" cy="354787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4.1958729146890005e+25" dist="6.2938093720335e+24" dir="4.19904e+30">
              <a:srgbClr val="9FB0B8">
                <a:alpha val="2.2e+29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2715768" y="11338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DEL MÓDULO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0904" y="1371600"/>
          <a:ext cx="2523744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536192"/>
              </a:tblGrid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Tecnología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 PERC · M10 (182 mm)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Celdas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 half-cut · η celda 23%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2,58 m²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módulo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21%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Vidrio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 mm templado AR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Encapsulante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 + backsheet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 / caja J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anodizado · IP68 · MC4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 kg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 / Isc *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49,5 V / 13,9 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Vmp / Imp *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 V / 13,0 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</a:tbl>
          </a:graphicData>
        </a:graphic>
      </p:graphicFrame>
      <p:sp>
        <p:nvSpPr>
          <p:cNvPr id="91" name="Text 88"/>
          <p:cNvSpPr/>
          <p:nvPr/>
        </p:nvSpPr>
        <p:spPr>
          <a:xfrm>
            <a:off x="2715768" y="4114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Referencia de fichas comerciales de módulos 540 W PERC; a validar con el proveedor seleccionado.</a:t>
            </a:r>
            <a:endParaRPr lang="en-US" sz="650" dirty="0"/>
          </a:p>
        </p:txBody>
      </p:sp>
      <p:sp>
        <p:nvSpPr>
          <p:cNvPr id="92" name="Shape 89"/>
          <p:cNvSpPr/>
          <p:nvPr/>
        </p:nvSpPr>
        <p:spPr>
          <a:xfrm>
            <a:off x="5404104" y="1024128"/>
            <a:ext cx="335584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5.328758601655031e+29" dist="7.993137902482545e+28" dir="2.519424e+35">
              <a:srgbClr val="9FB0B8">
                <a:alpha val="2.2e+34"/>
              </a:srgbClr>
            </a:outerShdw>
          </a:effectLst>
        </p:spPr>
      </p:sp>
      <p:sp>
        <p:nvSpPr>
          <p:cNvPr id="93" name="Shape 90"/>
          <p:cNvSpPr/>
          <p:nvPr/>
        </p:nvSpPr>
        <p:spPr>
          <a:xfrm>
            <a:off x="5417820" y="1115568"/>
            <a:ext cx="45720" cy="1188720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68696" y="1133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POTENCIA EN STC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5568696" y="1371600"/>
            <a:ext cx="3026664" cy="384048"/>
          </a:xfrm>
          <a:prstGeom prst="roundRect">
            <a:avLst>
              <a:gd name="adj" fmla="val 7143"/>
            </a:avLst>
          </a:prstGeom>
          <a:solidFill>
            <a:srgbClr val="E6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5568696" y="137160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A × G × η</a:t>
            </a:r>
            <a:endParaRPr lang="en-US" sz="1300" dirty="0"/>
          </a:p>
        </p:txBody>
      </p:sp>
      <p:sp>
        <p:nvSpPr>
          <p:cNvPr id="97" name="Text 94"/>
          <p:cNvSpPr/>
          <p:nvPr/>
        </p:nvSpPr>
        <p:spPr>
          <a:xfrm>
            <a:off x="5568696" y="180136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 m²  ×  1.000 W/m²  ×  0,21  =  </a:t>
            </a:r>
            <a:pPr algn="ctr" indent="0" marL="0">
              <a:buNone/>
            </a:pPr>
            <a:r>
              <a:rPr lang="en-US" sz="11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 Wp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5568696" y="204825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eficiencia del módulo es menor a la de celda por pérdidas CTM (2–3%) y por el área inactiva del marco.</a:t>
            </a:r>
            <a:endParaRPr lang="en-US" sz="680" dirty="0"/>
          </a:p>
        </p:txBody>
      </p:sp>
      <p:sp>
        <p:nvSpPr>
          <p:cNvPr id="99" name="Shape 96"/>
          <p:cNvSpPr/>
          <p:nvPr/>
        </p:nvSpPr>
        <p:spPr>
          <a:xfrm>
            <a:off x="5404104" y="2523744"/>
            <a:ext cx="1636776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6.767523424101889e+33" dist="1.0151285136152831e+33" dir="1.5116544e+40">
              <a:srgbClr val="9FB0B8">
                <a:alpha val="2.2e+39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522976" y="2642616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5513832" y="27066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185.185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mód/año</a:t>
            </a:r>
            <a:endParaRPr lang="en-US" sz="1400" dirty="0"/>
          </a:p>
        </p:txBody>
      </p:sp>
      <p:sp>
        <p:nvSpPr>
          <p:cNvPr id="102" name="Text 99"/>
          <p:cNvSpPr/>
          <p:nvPr/>
        </p:nvSpPr>
        <p:spPr>
          <a:xfrm>
            <a:off x="5513832" y="30723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100.000.000 Wp ÷ 540 Wp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7123176" y="2523744"/>
            <a:ext cx="1636776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8.594754748609398e+37" dist="1.2892132122914095e+37" dir="9.069926400000001e+44">
              <a:srgbClr val="9FB0B8">
                <a:alpha val="2.2e+44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7242048" y="2642616"/>
            <a:ext cx="292608" cy="25603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7232904" y="27066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6.120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h/año</a:t>
            </a:r>
            <a:endParaRPr lang="en-US" sz="1400" dirty="0"/>
          </a:p>
        </p:txBody>
      </p:sp>
      <p:sp>
        <p:nvSpPr>
          <p:cNvPr id="106" name="Text 103"/>
          <p:cNvSpPr/>
          <p:nvPr/>
        </p:nvSpPr>
        <p:spPr>
          <a:xfrm>
            <a:off x="7232904" y="30723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días × 24 h × 85% util.</a:t>
            </a:r>
            <a:endParaRPr lang="en-US" sz="720" dirty="0"/>
          </a:p>
        </p:txBody>
      </p:sp>
      <p:sp>
        <p:nvSpPr>
          <p:cNvPr id="107" name="Shape 104"/>
          <p:cNvSpPr/>
          <p:nvPr/>
        </p:nvSpPr>
        <p:spPr>
          <a:xfrm>
            <a:off x="5404104" y="3575304"/>
            <a:ext cx="1636776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0915338530733936e+42" dist="1.6373007796100902e+41" dir="5.44195584e+49">
              <a:srgbClr val="9FB0B8">
                <a:alpha val="2.2e+49"/>
              </a:srgbClr>
            </a:outerShdw>
          </a:effectLst>
        </p:spPr>
      </p:sp>
      <p:sp>
        <p:nvSpPr>
          <p:cNvPr id="108" name="Shape 105"/>
          <p:cNvSpPr/>
          <p:nvPr/>
        </p:nvSpPr>
        <p:spPr>
          <a:xfrm>
            <a:off x="5522976" y="3694176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513832" y="37581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mód/h</a:t>
            </a:r>
            <a:endParaRPr lang="en-US" sz="1400" dirty="0"/>
          </a:p>
        </p:txBody>
      </p:sp>
      <p:sp>
        <p:nvSpPr>
          <p:cNvPr id="110" name="Text 107"/>
          <p:cNvSpPr/>
          <p:nvPr/>
        </p:nvSpPr>
        <p:spPr>
          <a:xfrm>
            <a:off x="5513832" y="4123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de línea efectivo</a:t>
            </a:r>
            <a:endParaRPr lang="en-US" sz="720" dirty="0"/>
          </a:p>
        </p:txBody>
      </p:sp>
      <p:sp>
        <p:nvSpPr>
          <p:cNvPr id="111" name="Shape 108"/>
          <p:cNvSpPr/>
          <p:nvPr/>
        </p:nvSpPr>
        <p:spPr>
          <a:xfrm>
            <a:off x="7123176" y="3575304"/>
            <a:ext cx="1636776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38624799340321e+46" dist="2.0793719901048145e+45" dir="3.2651735040000005e+54">
              <a:srgbClr val="9FB0B8">
                <a:alpha val="2.2e+54"/>
              </a:srgbClr>
            </a:outerShdw>
          </a:effectLst>
        </p:spPr>
      </p:sp>
      <p:sp>
        <p:nvSpPr>
          <p:cNvPr id="112" name="Shape 109"/>
          <p:cNvSpPr/>
          <p:nvPr/>
        </p:nvSpPr>
        <p:spPr>
          <a:xfrm>
            <a:off x="7242048" y="3694176"/>
            <a:ext cx="292608" cy="25603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232904" y="37581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4.357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celdas/h</a:t>
            </a:r>
            <a:endParaRPr lang="en-US" sz="1400" dirty="0"/>
          </a:p>
        </p:txBody>
      </p:sp>
      <p:sp>
        <p:nvSpPr>
          <p:cNvPr id="114" name="Text 111"/>
          <p:cNvSpPr/>
          <p:nvPr/>
        </p:nvSpPr>
        <p:spPr>
          <a:xfrm>
            <a:off x="7232904" y="4123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celdas × ritmo de línea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EQUIPAMIENTO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A UTILIZAR Y DIMENSIONAMIENTO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5074920" cy="3547872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7605349516220767e+50" dist="2.640802427433114e+49" dir="1.9591041024000004e+59">
              <a:srgbClr val="9FB0B8">
                <a:alpha val="2.2e+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" y="1115568"/>
            <a:ext cx="45720" cy="3364992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33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PROCESO  ·  TAGS 101 – 112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745736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536192"/>
                <a:gridCol w="384048"/>
                <a:gridCol w="512064"/>
                <a:gridCol w="1929384"/>
              </a:tblGrid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kW inst.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dimensionamiento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Tester EL de celdas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Inspección del 100% de celdas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Stringer IR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4.357 celdas/h ÷ ~2.400 h⁻¹ c/u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Lay-up automático + bussing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línea · ciclo &lt; 2 min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pre-laminado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Microfisuras antes de laminar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Laminadora 6 posiciones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mód/h × 20 min = 10 simult.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Recortadora de bordes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 rebaba de EVA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Enmarcadora + caja J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 Al + silicona + J-box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Racks de curado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mód/h × 5 h = 150 posiciones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Simulador flash AAA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 ~15 s · cuarto oscuro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final + hi-pot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Ensayo de rutina IEC 61730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Binning + embalaje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Clasif. potencia · 30 mód/pallet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2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Transportadores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Rodillos entre puestos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25196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laminado (105) fija el ritmo: es el cuello de botella y el mayor consumidor de la planta.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605272" y="1024128"/>
            <a:ext cx="31546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2.2358793885600375e+54" dist="3.353819082840055e+53" dir="1.1754624614400003e+64">
              <a:srgbClr val="9FB0B8">
                <a:alpha val="2.2e+64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18988" y="1115568"/>
            <a:ext cx="45720" cy="1691640"/>
          </a:xfrm>
          <a:prstGeom prst="roundRect">
            <a:avLst>
              <a:gd name="adj" fmla="val 50000"/>
            </a:avLst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9864" y="11338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AUXILIARES  ·  TAGS 201 – 206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9864" y="1371600"/>
          <a:ext cx="2825496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72768"/>
                <a:gridCol w="411480"/>
                <a:gridCol w="475488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kW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Compresor de tornillo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+ 1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Chiller de agua 12 °C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Extracción de humos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HVAC nave + sala lay-up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Generador N₂ PSA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Iluminación + oficinas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605272" y="3008376"/>
            <a:ext cx="3154680" cy="1563624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2.839566823471248e+58" dist="4.2593502352068695e+57" dir="7.052774768640002e+68">
              <a:srgbClr val="9FB0B8">
                <a:alpha val="2.2e+69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18988" y="3099816"/>
            <a:ext cx="45720" cy="1380744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9864" y="3118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ELÉCTRICA INSTALADA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769864" y="3319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408</a:t>
            </a:r>
            <a:pPr indent="0" marL="0">
              <a:buNone/>
            </a:pPr>
            <a:r>
              <a:rPr lang="en-US" sz="110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kW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7086600" y="3319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Transformador sugerido</a:t>
            </a:r>
            <a:endParaRPr lang="en-US" sz="7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630 kVA  (fs 0,7 + reserva)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5769864" y="3803904"/>
            <a:ext cx="1668982" cy="1554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38846" y="3803904"/>
            <a:ext cx="1156514" cy="15544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9864" y="4005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Proceso  241 kW  (59%)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7132320" y="4005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Servicios  167 kW  (41%)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5769864" y="42245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bomba de vacío está integrada en las laminadoras 105.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IMPLANTACIÓN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DE LOS EQUIPOS EN PLANTA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5532120" cy="3547872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3.606249865808485e+62" dist="5.409374798712724e+61" dir="4.2316648611840007e+73">
              <a:srgbClr val="9FB0B8">
                <a:alpha val="2.2e+7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11155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DE NAVE  ·  80 × 40 m = 3.200 m²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325880"/>
            <a:ext cx="5294376" cy="2926080"/>
          </a:xfrm>
          <a:prstGeom prst="rect">
            <a:avLst/>
          </a:prstGeom>
          <a:solidFill>
            <a:srgbClr val="FAFBFB"/>
          </a:solidFill>
          <a:ln w="15875">
            <a:solidFill>
              <a:srgbClr val="0F22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371600"/>
            <a:ext cx="676656" cy="2148840"/>
          </a:xfrm>
          <a:prstGeom prst="roundRect">
            <a:avLst>
              <a:gd name="adj" fmla="val 4054"/>
            </a:avLst>
          </a:prstGeom>
          <a:solidFill>
            <a:srgbClr val="FBEFDD"/>
          </a:solidFill>
          <a:ln w="9525">
            <a:solidFill>
              <a:srgbClr val="D98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371600"/>
            <a:ext cx="621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ALMACÉN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vidrio · celdas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· J-box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676656" cy="621792"/>
          </a:xfrm>
          <a:prstGeom prst="roundRect">
            <a:avLst>
              <a:gd name="adj" fmla="val 4412"/>
            </a:avLst>
          </a:prstGeom>
          <a:solidFill>
            <a:srgbClr val="E8EEF0"/>
          </a:solidFill>
          <a:ln w="9525">
            <a:solidFill>
              <a:srgbClr val="7888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84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FRÍO EVA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1298448" y="1371600"/>
            <a:ext cx="3584448" cy="1417320"/>
          </a:xfrm>
          <a:prstGeom prst="roundRect">
            <a:avLst>
              <a:gd name="adj" fmla="val 1935"/>
            </a:avLst>
          </a:prstGeom>
          <a:solidFill>
            <a:srgbClr val="E6F3EE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5024" y="141732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60" kern="0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ENSAMBLE  ·  FLUJO EN "I"</a:t>
            </a:r>
            <a:endParaRPr lang="en-US" sz="580" dirty="0"/>
          </a:p>
        </p:txBody>
      </p:sp>
      <p:sp>
        <p:nvSpPr>
          <p:cNvPr id="19" name="Shape 17"/>
          <p:cNvSpPr/>
          <p:nvPr/>
        </p:nvSpPr>
        <p:spPr>
          <a:xfrm>
            <a:off x="1371600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35024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520" dirty="0"/>
          </a:p>
        </p:txBody>
      </p:sp>
      <p:sp>
        <p:nvSpPr>
          <p:cNvPr id="22" name="Shape 20"/>
          <p:cNvSpPr/>
          <p:nvPr/>
        </p:nvSpPr>
        <p:spPr>
          <a:xfrm>
            <a:off x="1687068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87068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650492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STRG</a:t>
            </a:r>
            <a:endParaRPr lang="en-US" sz="520" dirty="0"/>
          </a:p>
        </p:txBody>
      </p:sp>
      <p:sp>
        <p:nvSpPr>
          <p:cNvPr id="25" name="Shape 23"/>
          <p:cNvSpPr/>
          <p:nvPr/>
        </p:nvSpPr>
        <p:spPr>
          <a:xfrm>
            <a:off x="2002536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02536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65960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LAY-UP</a:t>
            </a:r>
            <a:endParaRPr lang="en-US" sz="520" dirty="0"/>
          </a:p>
        </p:txBody>
      </p:sp>
      <p:sp>
        <p:nvSpPr>
          <p:cNvPr id="28" name="Shape 26"/>
          <p:cNvSpPr/>
          <p:nvPr/>
        </p:nvSpPr>
        <p:spPr>
          <a:xfrm>
            <a:off x="2318004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8004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281428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520" dirty="0"/>
          </a:p>
        </p:txBody>
      </p:sp>
      <p:sp>
        <p:nvSpPr>
          <p:cNvPr id="31" name="Shape 29"/>
          <p:cNvSpPr/>
          <p:nvPr/>
        </p:nvSpPr>
        <p:spPr>
          <a:xfrm>
            <a:off x="2633472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0F2233"/>
          </a:solidFill>
          <a:ln w="9525">
            <a:solidFill>
              <a:srgbClr val="0F22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96896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BF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LAMIN.</a:t>
            </a:r>
            <a:endParaRPr lang="en-US" sz="520" dirty="0"/>
          </a:p>
        </p:txBody>
      </p:sp>
      <p:sp>
        <p:nvSpPr>
          <p:cNvPr id="34" name="Shape 32"/>
          <p:cNvSpPr/>
          <p:nvPr/>
        </p:nvSpPr>
        <p:spPr>
          <a:xfrm>
            <a:off x="2948940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48940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12364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</a:t>
            </a:r>
            <a:endParaRPr lang="en-US" sz="520" dirty="0"/>
          </a:p>
        </p:txBody>
      </p:sp>
      <p:sp>
        <p:nvSpPr>
          <p:cNvPr id="37" name="Shape 35"/>
          <p:cNvSpPr/>
          <p:nvPr/>
        </p:nvSpPr>
        <p:spPr>
          <a:xfrm>
            <a:off x="3264408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27832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</a:t>
            </a:r>
            <a:endParaRPr lang="en-US" sz="520" dirty="0"/>
          </a:p>
        </p:txBody>
      </p:sp>
      <p:sp>
        <p:nvSpPr>
          <p:cNvPr id="40" name="Shape 38"/>
          <p:cNvSpPr/>
          <p:nvPr/>
        </p:nvSpPr>
        <p:spPr>
          <a:xfrm>
            <a:off x="3579876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9876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543300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</a:t>
            </a:r>
            <a:endParaRPr lang="en-US" sz="520" dirty="0"/>
          </a:p>
        </p:txBody>
      </p:sp>
      <p:sp>
        <p:nvSpPr>
          <p:cNvPr id="43" name="Shape 41"/>
          <p:cNvSpPr/>
          <p:nvPr/>
        </p:nvSpPr>
        <p:spPr>
          <a:xfrm>
            <a:off x="3895344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95344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858768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</a:t>
            </a:r>
            <a:endParaRPr lang="en-US" sz="520" dirty="0"/>
          </a:p>
        </p:txBody>
      </p:sp>
      <p:sp>
        <p:nvSpPr>
          <p:cNvPr id="46" name="Shape 44"/>
          <p:cNvSpPr/>
          <p:nvPr/>
        </p:nvSpPr>
        <p:spPr>
          <a:xfrm>
            <a:off x="4210812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10812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174236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HI-POT</a:t>
            </a:r>
            <a:endParaRPr lang="en-US" sz="520" dirty="0"/>
          </a:p>
        </p:txBody>
      </p:sp>
      <p:sp>
        <p:nvSpPr>
          <p:cNvPr id="49" name="Shape 47"/>
          <p:cNvSpPr/>
          <p:nvPr/>
        </p:nvSpPr>
        <p:spPr>
          <a:xfrm>
            <a:off x="4526280" y="1609344"/>
            <a:ext cx="278892" cy="6583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2E9E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1645920"/>
            <a:ext cx="278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489704" y="1847088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BINN.</a:t>
            </a:r>
            <a:endParaRPr lang="en-US" sz="520" dirty="0"/>
          </a:p>
        </p:txBody>
      </p:sp>
      <p:sp>
        <p:nvSpPr>
          <p:cNvPr id="52" name="Shape 50"/>
          <p:cNvSpPr/>
          <p:nvPr/>
        </p:nvSpPr>
        <p:spPr>
          <a:xfrm>
            <a:off x="1371600" y="2359152"/>
            <a:ext cx="3438144" cy="128016"/>
          </a:xfrm>
          <a:prstGeom prst="rightArrow">
            <a:avLst/>
          </a:prstGeom>
          <a:solidFill>
            <a:srgbClr val="C9E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0" y="2359152"/>
            <a:ext cx="3438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 ·  TRANSPORTADORES DE RODILLOS</a:t>
            </a:r>
            <a:endParaRPr lang="en-US" sz="540" dirty="0"/>
          </a:p>
        </p:txBody>
      </p:sp>
      <p:sp>
        <p:nvSpPr>
          <p:cNvPr id="54" name="Text 52"/>
          <p:cNvSpPr/>
          <p:nvPr/>
        </p:nvSpPr>
        <p:spPr>
          <a:xfrm>
            <a:off x="1335024" y="25420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i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· laminado: cuello de botella</a:t>
            </a:r>
            <a:endParaRPr lang="en-US" sz="560" dirty="0"/>
          </a:p>
        </p:txBody>
      </p:sp>
      <p:sp>
        <p:nvSpPr>
          <p:cNvPr id="55" name="Shape 53"/>
          <p:cNvSpPr/>
          <p:nvPr/>
        </p:nvSpPr>
        <p:spPr>
          <a:xfrm>
            <a:off x="1298448" y="2852928"/>
            <a:ext cx="841248" cy="1353312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25880" y="2852928"/>
            <a:ext cx="7863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vestuarios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comedor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2212848" y="2852928"/>
            <a:ext cx="841248" cy="1353312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40280" y="2852928"/>
            <a:ext cx="7863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LAB. DE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reensayos</a:t>
            </a:r>
            <a:endParaRPr lang="en-US" sz="660" dirty="0"/>
          </a:p>
        </p:txBody>
      </p:sp>
      <p:sp>
        <p:nvSpPr>
          <p:cNvPr id="59" name="Shape 57"/>
          <p:cNvSpPr/>
          <p:nvPr/>
        </p:nvSpPr>
        <p:spPr>
          <a:xfrm>
            <a:off x="3127248" y="2852928"/>
            <a:ext cx="1755648" cy="1353312"/>
          </a:xfrm>
          <a:prstGeom prst="roundRect">
            <a:avLst>
              <a:gd name="adj" fmla="val 2027"/>
            </a:avLst>
          </a:prstGeom>
          <a:solidFill>
            <a:srgbClr val="E8EEF0"/>
          </a:solidFill>
          <a:ln w="9525">
            <a:solidFill>
              <a:srgbClr val="7888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54680" y="2852928"/>
            <a:ext cx="1700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AUXILIARES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compresor · 202 chiller · 203 humos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HVAC · 205 N₂ · 206 TGBT</a:t>
            </a:r>
            <a:endParaRPr lang="en-US" sz="660" dirty="0"/>
          </a:p>
        </p:txBody>
      </p:sp>
      <p:sp>
        <p:nvSpPr>
          <p:cNvPr id="61" name="Shape 59"/>
          <p:cNvSpPr/>
          <p:nvPr/>
        </p:nvSpPr>
        <p:spPr>
          <a:xfrm>
            <a:off x="4956048" y="1371600"/>
            <a:ext cx="795528" cy="2834640"/>
          </a:xfrm>
          <a:prstGeom prst="roundRect">
            <a:avLst>
              <a:gd name="adj" fmla="val 3448"/>
            </a:avLst>
          </a:prstGeom>
          <a:solidFill>
            <a:srgbClr val="FBEFDD"/>
          </a:solidFill>
          <a:ln w="9525">
            <a:solidFill>
              <a:srgbClr val="D98B2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3480" y="1371600"/>
            <a:ext cx="7406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ALMACÉN PT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EXPEDICIÓN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bahías</a:t>
            </a:r>
            <a:endParaRPr lang="en-US" sz="6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carga</a:t>
            </a:r>
            <a:endParaRPr lang="en-US" sz="660" dirty="0"/>
          </a:p>
        </p:txBody>
      </p:sp>
      <p:sp>
        <p:nvSpPr>
          <p:cNvPr id="63" name="Text 61"/>
          <p:cNvSpPr/>
          <p:nvPr/>
        </p:nvSpPr>
        <p:spPr>
          <a:xfrm>
            <a:off x="502920" y="43159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INGRESO DE MATERIA PRIMA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1920240" y="4315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funcional sin escala  ·  pasillos 1,2 m peatonal / 3 m autoelevador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4023360" y="431596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DE PRODUCTO  ▶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6035040" y="1024128"/>
            <a:ext cx="2724912" cy="3547872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4.579937329576776e+66" dist="6.86990599436516e+65" dir="2.5389989167104004e+78">
              <a:srgbClr val="9FB0B8">
                <a:alpha val="2.2000000000000002e+79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048756" y="1115568"/>
            <a:ext cx="45720" cy="3364992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9632" y="11338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UBICACIÓN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99632" y="1467612"/>
            <a:ext cx="64008" cy="6400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4593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lineal en "I"</a:t>
            </a:r>
            <a:endParaRPr lang="en-US" sz="760" dirty="0"/>
          </a:p>
        </p:txBody>
      </p:sp>
      <p:sp>
        <p:nvSpPr>
          <p:cNvPr id="71" name="Text 69"/>
          <p:cNvSpPr/>
          <p:nvPr/>
        </p:nvSpPr>
        <p:spPr>
          <a:xfrm>
            <a:off x="6345936" y="15819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y PT en lados opuestos: sin cruces ni retrocesos de material.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6199632" y="1988820"/>
            <a:ext cx="64008" cy="6400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45936" y="1938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junto al laminado</a:t>
            </a:r>
            <a:endParaRPr lang="en-US" sz="760" dirty="0"/>
          </a:p>
        </p:txBody>
      </p:sp>
      <p:sp>
        <p:nvSpPr>
          <p:cNvPr id="74" name="Text 72"/>
          <p:cNvSpPr/>
          <p:nvPr/>
        </p:nvSpPr>
        <p:spPr>
          <a:xfrm>
            <a:off x="6345936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recorrido de agua fría, aire y potencia al mayor consumidor.</a:t>
            </a:r>
            <a:endParaRPr lang="en-US" sz="660" dirty="0"/>
          </a:p>
        </p:txBody>
      </p:sp>
      <p:sp>
        <p:nvSpPr>
          <p:cNvPr id="75" name="Shape 73"/>
          <p:cNvSpPr/>
          <p:nvPr/>
        </p:nvSpPr>
        <p:spPr>
          <a:xfrm>
            <a:off x="6199632" y="2510028"/>
            <a:ext cx="64008" cy="6400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45936" y="24597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controlada de lay-up</a:t>
            </a:r>
            <a:endParaRPr lang="en-US" sz="760" dirty="0"/>
          </a:p>
        </p:txBody>
      </p:sp>
      <p:sp>
        <p:nvSpPr>
          <p:cNvPr id="77" name="Text 75"/>
          <p:cNvSpPr/>
          <p:nvPr/>
        </p:nvSpPr>
        <p:spPr>
          <a:xfrm>
            <a:off x="6345936" y="2624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°C y HR &lt; 50% protegen el EVA antes de laminar.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6199632" y="3031236"/>
            <a:ext cx="64008" cy="6400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45936" y="29809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 antes del flash</a:t>
            </a:r>
            <a:endParaRPr lang="en-US" sz="760" dirty="0"/>
          </a:p>
        </p:txBody>
      </p:sp>
      <p:sp>
        <p:nvSpPr>
          <p:cNvPr id="80" name="Text 78"/>
          <p:cNvSpPr/>
          <p:nvPr/>
        </p:nvSpPr>
        <p:spPr>
          <a:xfrm>
            <a:off x="6345936" y="31455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de 150 posiciones: evita frenar la línea 4–6 h.</a:t>
            </a:r>
            <a:endParaRPr lang="en-US" sz="660" dirty="0"/>
          </a:p>
        </p:txBody>
      </p:sp>
      <p:sp>
        <p:nvSpPr>
          <p:cNvPr id="81" name="Shape 79"/>
          <p:cNvSpPr/>
          <p:nvPr/>
        </p:nvSpPr>
        <p:spPr>
          <a:xfrm>
            <a:off x="6199632" y="3552444"/>
            <a:ext cx="64008" cy="6400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45936" y="3502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Cuarto oscuro para el flash</a:t>
            </a:r>
            <a:endParaRPr lang="en-US" sz="760" dirty="0"/>
          </a:p>
        </p:txBody>
      </p:sp>
      <p:sp>
        <p:nvSpPr>
          <p:cNvPr id="83" name="Text 81"/>
          <p:cNvSpPr/>
          <p:nvPr/>
        </p:nvSpPr>
        <p:spPr>
          <a:xfrm>
            <a:off x="6345936" y="36667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 AAA exige luz ambiente controlada.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6199632" y="4073652"/>
            <a:ext cx="64008" cy="6400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45936" y="4023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central</a:t>
            </a:r>
            <a:endParaRPr lang="en-US" sz="760" dirty="0"/>
          </a:p>
        </p:txBody>
      </p:sp>
      <p:sp>
        <p:nvSpPr>
          <p:cNvPr id="86" name="Text 84"/>
          <p:cNvSpPr/>
          <p:nvPr/>
        </p:nvSpPr>
        <p:spPr>
          <a:xfrm>
            <a:off x="6345936" y="41879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a flash e hi-pot para reensayos rápidos.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CONDICIONES DE PROCESO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PUNTUALES DE FABRICACIÓN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5852160" cy="3547872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5.816520408562505e+70" dist="8.724780612843754e+69" dir="1.5233993500262402e+83">
              <a:srgbClr val="9FB0B8">
                <a:alpha val="2.2000000000000003e+8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" y="1115568"/>
            <a:ext cx="45720" cy="3364992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33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CRÍTICAS POR ETAPA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522976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157984"/>
                <a:gridCol w="1965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 / valor de consigna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Motivo / norma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Ambiente general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± 2 °C · HR &lt; 50%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Estabilidad dimensional y del EVA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Almacén de EVA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25 °C · seco · FIFO por vencimiento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Evita pre-curado y humedad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Soldadura (102)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 controlada · flux · extracción · N₂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Uniones sin microfisuras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Lay-up (103)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 limpia · guantes · protección ESD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Grasa y polvo generan delaminación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Laminado (105)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 °C · vacío &lt; 1 mbar · ~20 min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 content del EVA &gt; 80% por lote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Curado (108)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– 6 h a temperatura ambiente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Adhesión de silicona y caja J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 (109)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 W/m² · AM1.5 · 25 °C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IEC 60904 · módulo patrón calibrado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 eléctrica (110)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Hi-pot + continuidad de tierra al 100%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IEC 61730 (ensayo de rutina)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Certificación de diseño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Ensayos de tipo en laboratorio externo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IEC 61215 / IEC 61730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0" y="1024128"/>
            <a:ext cx="235915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7.386980918874382e+74" dist="1.1080471378311567e+74" dir="9.14039610015744e+87">
              <a:srgbClr val="9FB0B8">
                <a:alpha val="2.2000000000000003e+89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19672" y="1143000"/>
            <a:ext cx="292608" cy="25603"/>
          </a:xfrm>
          <a:prstGeom prst="rect">
            <a:avLst/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12070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°C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10528" y="15727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de laminado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6400800" y="1938528"/>
            <a:ext cx="235915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9.381465766970464e+78" dist="1.407219865045569e+78" dir="5.484237660094465e+92">
              <a:srgbClr val="9FB0B8">
                <a:alpha val="2.2e+9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19672" y="2057400"/>
            <a:ext cx="292608" cy="25603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21214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mbar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10528" y="24871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vacío en la laminadora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6400800" y="2852928"/>
            <a:ext cx="235915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191446152405249e+83" dist="1.7871692286078725e+82" dir="3.2905425960566786e+97">
              <a:srgbClr val="9FB0B8">
                <a:alpha val="2.2000000000000003e+99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19672" y="2971800"/>
            <a:ext cx="292608" cy="25603"/>
          </a:xfrm>
          <a:prstGeom prst="rect">
            <a:avLst/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0528" y="30358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W/m²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510528" y="34015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irradiancia STC en el flash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6400800" y="3767328"/>
            <a:ext cx="235915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5131366135546663e+87" dist="2.269704920331998e+86" dir="1.9743255576340073e+102">
              <a:srgbClr val="9FB0B8">
                <a:alpha val="2.2000000000000003e+104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19672" y="3886200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0528" y="39502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10528" y="431596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con EL + hi-pot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CONSUMOS ESPECÍFICOS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Y MATERIALES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200253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9216834992144262e+91" dist="2.8825252488216374e+90" dir="1.1845953345804043e+107">
              <a:srgbClr val="9FB0B8">
                <a:alpha val="2.2000000000000003e+10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143000"/>
            <a:ext cx="292608" cy="25603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1.400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MWh/año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" y="1572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eléctrico total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496312" y="1024128"/>
            <a:ext cx="200253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2.4405380440023213e+95" dist="3.6608070660034796e+94" dir="7.107572007482426e+111">
              <a:srgbClr val="9FB0B8">
                <a:alpha val="2.2000000000000003e+11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15184" y="1143000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kWh/mód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1572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por unidad producida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84048" y="1901952"/>
            <a:ext cx="200253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3.099483315882948e+99" dist="4.649224973824419e+98" dir="4.2645432044894554e+116">
              <a:srgbClr val="9FB0B8">
                <a:alpha val="2.2000000000000005e+11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020824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MWh/MWp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" y="24505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por potencia instalada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496312" y="1901952"/>
            <a:ext cx="2002536" cy="786384"/>
          </a:xfrm>
          <a:prstGeom prst="roundRect">
            <a:avLst>
              <a:gd name="adj" fmla="val 5814"/>
            </a:avLst>
          </a:prstGeom>
          <a:solidFill>
            <a:srgbClr val="FBEFDD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3.9363438111713435e+103" dist="5.904515716757012e+102" dir="2.5587259226936733e+121">
              <a:srgbClr val="9FB0B8">
                <a:alpha val="2.2000000000000006e+12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15184" y="2020824"/>
            <a:ext cx="292608" cy="25603"/>
          </a:xfrm>
          <a:prstGeom prst="rect">
            <a:avLst/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084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kWh/t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06040" y="24505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80–250: por encima del rango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84048" y="2798064"/>
            <a:ext cx="4114800" cy="1773936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4.9991566401876064e+107" dist="7.498734960281406e+106" dir="1.535235553616204e+126">
              <a:srgbClr val="9FB0B8">
                <a:alpha val="2.2000000000000006e+12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7764" y="2889504"/>
            <a:ext cx="45720" cy="1591056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8895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DESGLOSE DE ENERGÍA POR USO  ·  MWh/AÑO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1501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Laminado (105)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609344" y="3189427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9344" y="3189427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5616" y="31501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" y="333756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(204)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609344" y="3376879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09344" y="3376879"/>
            <a:ext cx="1267387" cy="114300"/>
          </a:xfrm>
          <a:prstGeom prst="roundRect">
            <a:avLst>
              <a:gd name="adj" fmla="val 16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33375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8640" y="352501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(202)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609344" y="3564331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09344" y="3564331"/>
            <a:ext cx="636140" cy="114300"/>
          </a:xfrm>
          <a:prstGeom prst="roundRect">
            <a:avLst>
              <a:gd name="adj" fmla="val 16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35250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8640" y="37124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Ilum. + oficinas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609344" y="3751783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9344" y="3751783"/>
            <a:ext cx="616567" cy="114300"/>
          </a:xfrm>
          <a:prstGeom prst="roundRect">
            <a:avLst>
              <a:gd name="adj" fmla="val 16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85616" y="37124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8640" y="389991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Stringers (102)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09344" y="3939235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09344" y="3939235"/>
            <a:ext cx="504019" cy="114300"/>
          </a:xfrm>
          <a:prstGeom prst="roundRect">
            <a:avLst>
              <a:gd name="adj" fmla="val 16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85616" y="38999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48640" y="40873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Aire comprimido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09344" y="4126687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09344" y="4126687"/>
            <a:ext cx="464872" cy="114300"/>
          </a:xfrm>
          <a:prstGeom prst="roundRect">
            <a:avLst>
              <a:gd name="adj" fmla="val 16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85616" y="40873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48640" y="42748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 equipos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609344" y="4314139"/>
            <a:ext cx="2157984" cy="114300"/>
          </a:xfrm>
          <a:prstGeom prst="roundRect">
            <a:avLst>
              <a:gd name="adj" fmla="val 16000"/>
            </a:avLst>
          </a:prstGeom>
          <a:solidFill>
            <a:srgbClr val="EDF1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9344" y="4314139"/>
            <a:ext cx="1208667" cy="114300"/>
          </a:xfrm>
          <a:prstGeom prst="roundRect">
            <a:avLst>
              <a:gd name="adj" fmla="val 16000"/>
            </a:avLst>
          </a:prstGeom>
          <a:solidFill>
            <a:srgbClr val="788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85616" y="42748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645152" y="1024128"/>
            <a:ext cx="4114800" cy="2432304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6.34892893303826e+111" dist="9.523393399557385e+110" dir="9.211413321697224e+130">
              <a:srgbClr val="9FB0B8">
                <a:alpha val="2.2000000000000004e+134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09744" y="1133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 ·  BOM POR MÓDULO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9744" y="1371600"/>
          <a:ext cx="3785616" cy="914400"/>
        </p:xfrm>
        <a:graphic>
          <a:graphicData uri="http://schemas.openxmlformats.org/drawingml/2006/table">
            <a:tbl>
              <a:tblPr/>
              <a:tblGrid>
                <a:gridCol w="1591056"/>
                <a:gridCol w="713232"/>
                <a:gridCol w="694944"/>
                <a:gridCol w="786384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kg/mód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Scrap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t/año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3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Vidrio 3,2 mm 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 de aluminio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 (2 capas)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Backsheet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Celdas PERC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Ribbon de cobre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 J + silicona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53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7A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5.311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E"/>
                    </a:solidFill>
                  </a:tcPr>
                </a:tc>
              </a:tr>
            </a:tbl>
          </a:graphicData>
        </a:graphic>
      </p:graphicFrame>
      <p:sp>
        <p:nvSpPr>
          <p:cNvPr id="60" name="Text 57"/>
          <p:cNvSpPr/>
          <p:nvPr/>
        </p:nvSpPr>
        <p:spPr>
          <a:xfrm>
            <a:off x="4809744" y="320040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Vidrio y aluminio concentran el 83% de la masa del módulo.</a:t>
            </a:r>
            <a:endParaRPr lang="en-US" sz="660" dirty="0"/>
          </a:p>
        </p:txBody>
      </p:sp>
      <p:sp>
        <p:nvSpPr>
          <p:cNvPr id="61" name="Shape 58"/>
          <p:cNvSpPr/>
          <p:nvPr/>
        </p:nvSpPr>
        <p:spPr>
          <a:xfrm>
            <a:off x="4645152" y="3566160"/>
            <a:ext cx="129844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8.063139744958591e+115" dist="1.209470961743788e+115" dir="5.526847993018334e+135">
              <a:srgbClr val="9FB0B8">
                <a:alpha val="2.2000000000000005e+139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4764024" y="3685032"/>
            <a:ext cx="292608" cy="25603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754880" y="37490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t/MWp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4754880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consumidos</a:t>
            </a:r>
            <a:endParaRPr lang="en-US" sz="720" dirty="0"/>
          </a:p>
        </p:txBody>
      </p:sp>
      <p:sp>
        <p:nvSpPr>
          <p:cNvPr id="65" name="Shape 62"/>
          <p:cNvSpPr/>
          <p:nvPr/>
        </p:nvSpPr>
        <p:spPr>
          <a:xfrm>
            <a:off x="6053328" y="3566160"/>
            <a:ext cx="129844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024018747609741e+120" dist="1.5360281214146108e+119" dir="3.3161087958110005e+140">
              <a:srgbClr val="9FB0B8">
                <a:alpha val="2.2000000000000006e+144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172200" y="3685032"/>
            <a:ext cx="292608" cy="25603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63056" y="37490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pPr algn="l" indent="0" marL="0">
              <a:buNone/>
            </a:pPr>
            <a:r>
              <a:rPr lang="en-US" sz="850" b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t/año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163056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embalaje: pallet + film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7461504" y="3566160"/>
            <a:ext cx="1298448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300503809464371e+124" dist="1.9507557141965558e+123" dir="1.9896652774866004e+145">
              <a:srgbClr val="9FB0B8">
                <a:alpha val="2.2000000000000004e+149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7580376" y="3685032"/>
            <a:ext cx="292608" cy="25603"/>
          </a:xfrm>
          <a:prstGeom prst="rect">
            <a:avLst/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571232" y="37490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7571232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 de EVA: el mayor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CONSUMOS ESPECÍFICOS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AGUA, EFLUENTES Y EMISIONES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41148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1.6516398380197513e+128" dist="2.4774597570296257e+127" dir="1.1937991664919603e+150">
              <a:srgbClr val="9FB0B8">
                <a:alpha val="2.2000000000000004e+15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" y="1115568"/>
            <a:ext cx="45720" cy="1554480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1612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143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1408176"/>
            <a:ext cx="3785616" cy="7315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996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2.340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8640" y="18836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m³/AÑO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847088" y="14996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47088" y="18836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m³/t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45536" y="14996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145536" y="18836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L/MÓDULO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8640" y="2121408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en circuito cerrado (reposición 0,5 m³/día) · sanitario 105 personas × 60 L/día · limpieza 1 m³/día.</a:t>
            </a:r>
            <a:endParaRPr lang="en-US" sz="6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del rango de guía (0,5–2,5 m³/t): no hay agua de proceso.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645152" y="1024128"/>
            <a:ext cx="41148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2.0975825942850843e+132" dist="3.1463738914276248e+131" dir="7.162794998951762e+154">
              <a:srgbClr val="9FB0B8">
                <a:alpha val="2.2000000000000003e+15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58868" y="1115568"/>
            <a:ext cx="45720" cy="1554480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11612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143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EFLUENTES LÍQUIDOS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9744" y="1408176"/>
            <a:ext cx="3785616" cy="7315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4996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809744" y="18836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m³/AÑO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08192" y="14996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108192" y="18836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m³/t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406640" y="14996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406640" y="18836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DQO/t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09744" y="2121408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Cloacal asimilable (90% del agua consumida) · DQO ~500 mg/L · sin efluente de proceso.</a:t>
            </a:r>
            <a:endParaRPr lang="en-US" sz="6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DQO por debajo del rango de guía (1–10 kg/t) por ausencia de procesos húmedos.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384048" y="2852928"/>
            <a:ext cx="41148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2.663929894742057e+136" dist="3.9958948421130834e+135" dir="4.297676999371057e+159">
              <a:srgbClr val="9FB0B8">
                <a:alpha val="2.2000000000000003e+164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7764" y="2944368"/>
            <a:ext cx="45720" cy="1554480"/>
          </a:xfrm>
          <a:prstGeom prst="roundRect">
            <a:avLst>
              <a:gd name="adj" fmla="val 50000"/>
            </a:avLst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2990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2971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RESIDUOS SÓLIDOS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3236976"/>
            <a:ext cx="3785616" cy="7315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3284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548640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t/AÑO SCRAP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847088" y="33284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1847088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t/AÑO EMBAL.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45536" y="33284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3145536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SCRAP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8640" y="3950208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Vidrio, aluminio y cobre → reciclado · EVA, backsheet y silicona → residuo especial.</a:t>
            </a:r>
            <a:endParaRPr lang="en-US" sz="6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Celdas rotas → gestor autorizado (Ley 24.051 y normativa provincial).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4645152" y="2852928"/>
            <a:ext cx="41148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3.3831909663224124e+140" dist="5.074786449483616e+139" dir="2.5786061996226343e+164">
              <a:srgbClr val="9FB0B8">
                <a:alpha val="2.2000000000000004e+169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58868" y="2944368"/>
            <a:ext cx="45720" cy="1554480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9744" y="29900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2971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EMISIONES GASEOSAS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9744" y="3236976"/>
            <a:ext cx="3785616" cy="7315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3284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4809744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CO₂/AÑO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08192" y="33284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6108192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CO₂/t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406640" y="33284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7406640" y="3712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CO₂/MWp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809744" y="3950208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Indirectas de red eléctrica, factor 0,40 t CO₂/MWh (verificar valor vigente CAMMESA).</a:t>
            </a:r>
            <a:endParaRPr lang="en-US" sz="6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de flux y ácido acético del EVA → captados por extracción 203.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32004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03 · CIERRE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3200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DE MATERIA Y ENERGÍA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4773168"/>
            <a:ext cx="8375904" cy="9144"/>
          </a:xfrm>
          <a:prstGeom prst="rect">
            <a:avLst/>
          </a:prstGeom>
          <a:solidFill>
            <a:srgbClr val="DCE3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 · UTN FRLP · INSTALACIONES INDUSTRIALES 2026 · MÓDULO FV MONOCRISTALINO PERC · 100 MWp/AÑO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247888" y="4818888"/>
            <a:ext cx="512064" cy="219456"/>
          </a:xfrm>
          <a:prstGeom prst="roundRect">
            <a:avLst>
              <a:gd name="adj" fmla="val 125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7888" y="481888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84048" y="1024128"/>
            <a:ext cx="41148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4.296652527229464e+144" dist="6.444978790844192e+143" dir="1.5471637197735807e+169">
              <a:srgbClr val="9FB0B8">
                <a:alpha val="2.2e+17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" y="1115568"/>
            <a:ext cx="45720" cy="1965960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33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DE MATERIA  ·  t/AÑO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1408176"/>
            <a:ext cx="1207008" cy="932688"/>
          </a:xfrm>
          <a:prstGeom prst="roundRect">
            <a:avLst>
              <a:gd name="adj" fmla="val 2941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08176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5.496
</a:t>
            </a:r>
            <a:pPr algn="ctr" indent="0" marL="0">
              <a:lnSpc>
                <a:spcPct val="105000"/>
              </a:lnSpc>
              <a:buNone/>
            </a:pPr>
            <a:r>
              <a:rPr lang="en-US" sz="700" b="1" spc="8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
</a:t>
            </a:r>
            <a:pPr algn="ctr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A9B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+ embalaje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819656" y="1783080"/>
            <a:ext cx="256032" cy="182880"/>
          </a:xfrm>
          <a:prstGeom prst="rightArrow">
            <a:avLst/>
          </a:prstGeom>
          <a:solidFill>
            <a:srgbClr val="788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39696" y="1408176"/>
            <a:ext cx="2194560" cy="420624"/>
          </a:xfrm>
          <a:prstGeom prst="roundRect">
            <a:avLst>
              <a:gd name="adj" fmla="val 6522"/>
            </a:avLst>
          </a:prstGeom>
          <a:solidFill>
            <a:srgbClr val="E6F3EE"/>
          </a:solidFill>
          <a:ln w="6350">
            <a:solidFill>
              <a:srgbClr val="DCE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85416" y="14081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5.426   </a:t>
            </a:r>
            <a:pPr algn="ctr" indent="0" marL="0">
              <a:buNone/>
            </a:pPr>
            <a:r>
              <a:rPr lang="en-US" sz="620" b="1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EMBALADOS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39696" y="1892808"/>
            <a:ext cx="1069848" cy="448056"/>
          </a:xfrm>
          <a:prstGeom prst="roundRect">
            <a:avLst>
              <a:gd name="adj" fmla="val 6122"/>
            </a:avLst>
          </a:prstGeom>
          <a:solidFill>
            <a:srgbClr val="F0F3F4"/>
          </a:solidFill>
          <a:ln w="6350">
            <a:solidFill>
              <a:srgbClr val="DC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1892808"/>
            <a:ext cx="9784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  </a:t>
            </a:r>
            <a:pPr algn="ctr" indent="0" marL="0">
              <a:buNone/>
            </a:pPr>
            <a:r>
              <a:rPr lang="en-US" sz="620" b="1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1892808"/>
            <a:ext cx="1069848" cy="448056"/>
          </a:xfrm>
          <a:prstGeom prst="roundRect">
            <a:avLst>
              <a:gd name="adj" fmla="val 6122"/>
            </a:avLst>
          </a:prstGeom>
          <a:solidFill>
            <a:srgbClr val="F0F3F4"/>
          </a:solidFill>
          <a:ln w="6350">
            <a:solidFill>
              <a:srgbClr val="DC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892808"/>
            <a:ext cx="9784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   </a:t>
            </a:r>
            <a:pPr algn="ctr" indent="0" marL="0">
              <a:buNone/>
            </a:pPr>
            <a:r>
              <a:rPr lang="en-US" sz="620" b="1" spc="50" kern="0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Y HUMEDAD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450592"/>
            <a:ext cx="3785616" cy="292608"/>
          </a:xfrm>
          <a:prstGeom prst="roundRect">
            <a:avLst>
              <a:gd name="adj" fmla="val 9375"/>
            </a:avLst>
          </a:prstGeom>
          <a:solidFill>
            <a:srgbClr val="E6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450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MATERIA  ≈ 100%</a:t>
            </a:r>
            <a:pPr indent="0" marL="0">
              <a:buNone/>
            </a:pPr>
            <a:r>
              <a:rPr lang="en-US" sz="70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guía 98 – 102%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278892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788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= 5.311 t de materiales + 185 t de embalaje  ·  VOC y humedad &lt; 0,1%, no cuantificados.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384048" y="3310128"/>
            <a:ext cx="41148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5.456748709581419e+148" dist="8.185123064372124e+147" dir="9.282982318641485e+173">
              <a:srgbClr val="9FB0B8">
                <a:alpha val="2.2000000000000003e+17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7764" y="3401568"/>
            <a:ext cx="45720" cy="1078992"/>
          </a:xfrm>
          <a:prstGeom prst="roundRect">
            <a:avLst>
              <a:gd name="adj" fmla="val 50000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015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DE ENERGÍA  ·  DESTINO DE 1.400 MWh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3639312"/>
            <a:ext cx="2574219" cy="201168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39312"/>
            <a:ext cx="25742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22859" y="3639312"/>
            <a:ext cx="1022116" cy="201168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22859" y="3639312"/>
            <a:ext cx="1022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44975" y="3639312"/>
            <a:ext cx="151425" cy="201168"/>
          </a:xfrm>
          <a:prstGeom prst="rect">
            <a:avLst/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6400" y="3639312"/>
            <a:ext cx="37856" cy="201168"/>
          </a:xfrm>
          <a:prstGeom prst="rect">
            <a:avLst/>
          </a:prstGeom>
          <a:solidFill>
            <a:srgbClr val="788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977640"/>
            <a:ext cx="73152" cy="73152"/>
          </a:xfrm>
          <a:prstGeom prst="rect">
            <a:avLst/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9319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 a ambiente / HVAC  ·  68%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441448" y="3977640"/>
            <a:ext cx="73152" cy="73152"/>
          </a:xfrm>
          <a:prstGeom prst="rect">
            <a:avLst/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39319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Rechazo del chiller  ·  27%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48640" y="4169664"/>
            <a:ext cx="73152" cy="73152"/>
          </a:xfrm>
          <a:prstGeom prst="rect">
            <a:avLst/>
          </a:prstGeom>
          <a:solidFill>
            <a:srgbClr val="D98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1239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Pérdidas eléctricas  ·  4%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441448" y="4169664"/>
            <a:ext cx="73152" cy="73152"/>
          </a:xfrm>
          <a:prstGeom prst="rect">
            <a:avLst/>
          </a:prstGeom>
          <a:solidFill>
            <a:srgbClr val="788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8608" y="41239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Retenida en producto  ·  1%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48640" y="4325112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energía ≈ 100%  ·  guía 95–105%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4645152" y="1024128"/>
            <a:ext cx="4114800" cy="3547872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  <a:effectLst>
            <a:outerShdw sx="100000" sy="100000" kx="0" ky="0" algn="bl" rotWithShape="0" blurRad="6.930070861168402e+152" dist="1.0395106291752597e+152" dir="5.569789391184891e+178">
              <a:srgbClr val="9FB0B8">
                <a:alpha val="2.2000000000000004e+184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58868" y="1115568"/>
            <a:ext cx="45720" cy="3364992"/>
          </a:xfrm>
          <a:prstGeom prst="roundRect">
            <a:avLst>
              <a:gd name="adj" fmla="val 50000"/>
            </a:avLst>
          </a:prstGeom>
          <a:solidFill>
            <a:srgbClr val="2E9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1133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PRÓXIMO PASO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9744" y="1435608"/>
            <a:ext cx="219456" cy="219456"/>
          </a:xfrm>
          <a:prstGeom prst="ellipse">
            <a:avLst/>
          </a:prstGeom>
          <a:solidFill>
            <a:srgbClr val="E6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102352" y="1426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laminado define la capacidad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102352" y="16093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9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 laminadoras concentran ~31% de la energía: su OEE fija la producción real de la planta.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4809744" y="2075688"/>
            <a:ext cx="219456" cy="219456"/>
          </a:xfrm>
          <a:prstGeom prst="ellipse">
            <a:avLst/>
          </a:prstGeom>
          <a:solidFill>
            <a:srgbClr val="E6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2075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102352" y="20665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planta de ensamble, no de proceso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102352" y="224942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9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 kWh/mód y 0,45 m³/t: consumos bajos, dominados por climatización y servicios auxiliares.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4809744" y="2715768"/>
            <a:ext cx="219456" cy="219456"/>
          </a:xfrm>
          <a:prstGeom prst="ellipse">
            <a:avLst/>
          </a:prstGeom>
          <a:solidFill>
            <a:srgbClr val="E6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2715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102352" y="270662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impacto está en los materiales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5102352" y="28895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9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Vidrio y aluminio son el 83% de la masa; el scrap de EVA y backsheet (7%) es la principal oportunidad de mejora.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4809744" y="3355848"/>
            <a:ext cx="219456" cy="219456"/>
          </a:xfrm>
          <a:prstGeom prst="ellipse">
            <a:avLst/>
          </a:prstGeom>
          <a:solidFill>
            <a:srgbClr val="E6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3355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7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102352" y="33467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 kWh/t supera la guía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5102352" y="35295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90" dirty="0">
                <a:solidFill>
                  <a:srgbClr val="253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justifica por el HVAC y el laminado sobre un producto liviano; se verificará con la base de cálculo.</a:t>
            </a: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4809744" y="4041648"/>
            <a:ext cx="3785616" cy="41148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56048" y="4041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E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   </a:t>
            </a:r>
            <a:pPr indent="0" marL="0">
              <a:buNone/>
            </a:pPr>
            <a:r>
              <a:rPr lang="en-US" sz="700" dirty="0">
                <a:solidFill>
                  <a:srgbClr val="D4D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cálculo Excel + tablero Power BI con los KPIs de la guía.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03 · Equipos, fabricación y consumos específicos</dc:title>
  <dc:subject>Instalaciones Industriales 2026 · Módulo FV monocristalino PERC · 100 MWp/año</dc:subject>
  <dc:creator>Grupo 9 · UTN FRLP</dc:creator>
  <cp:lastModifiedBy>Grupo 9 · UTN FRLP</cp:lastModifiedBy>
  <cp:revision>1</cp:revision>
  <dcterms:created xsi:type="dcterms:W3CDTF">2026-09-17T12:09:28Z</dcterms:created>
  <dcterms:modified xsi:type="dcterms:W3CDTF">2026-09-17T12:09:28Z</dcterms:modified>
</cp:coreProperties>
</file>