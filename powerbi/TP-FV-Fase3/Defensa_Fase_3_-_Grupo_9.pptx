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IDEA: presentamos la Fase 3 de la planta de módulos PERC de 100 MWp/año. PREGUNTA POSIBLE: ¿qué cambió respecto de la Fase 2? Tres turnos, ritmo corregido, compresor, chiller y codificación (sección 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IDEA: ensamblamos un módulo de 540 Wp en siete operaciones, a 30,26 mód/h. DECIR: 185.185 mód/año; 6.120 h efectivas; 3 turnos. PREGUNTA POSIBLE: ¿por qué tres turnos? Detener la laminadora obliga a recalentar las placas en cada arranque [3].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IDEA: la planta cubriría un sexto de la incorporación solar anual. DECIR: 1.933 MW a 2.483 MW en nueve meses; hipótesis 600 MWp/año; 16,7 %. PREGUNTA POSIBLE: ¿no es demasiado? El MEM no cuenta GD ni fuera de red, y EPSE San Juan prevé 450 MW [13].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IDEA: la laminadora C-101 marca el ritmo con 84,1 % de utilización. DECIR: 36 mód/h nominal; hasta 220.320 mód/año, 35.135 de margen. PREGUNTA POSIBLE: ¿y el curado? Con 180 posiciones subiría al 93,4 %: por eso se adoptan 240.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IDEA: la masa se construye en el apilado y cierra al 100,00 %. DECIR: 24,45 kg/h de celdas; +729,86 en el apilado; 847,25 de módulo; 888,75 kg/h de entrada y salida. PREGUNTA POSIBLE: ¿por qué el laminado no pierde masa? El EVA reticula sin desprender material. El 2 % del flash vuelve a reproceso.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IDEA: la laminadora y el HVAC dominan; la laminación aprovecha un tercio de su energía. DECIR: 5.125,08 kWh/día; C-101 1.453,5; Q útil 0,84 kWh/mód; rendimiento 35,7 %. PREGUNTA POSIBLE: ¿cómo eligieron los factores de carga? Stringer y laminadora calibrados a catálogo: 41/50 kW y 95/190 kW [2][3].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IDEA: 500 kVA de transformador y 296,52 kWh por tonelada. DECIR: 479,5 kW × 0,75 + 10 % ÷ 0,95 + 20 % = 499,69 kVA. Agua 2.340 m³/año, sólo sanitaria. PREGUNTA POSIBLE: ¿por qué cos φ 0,95? Banco de capacitores automático para pasar de 0,85 a 0,95.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IDEA: efluente cloacal, residuos sólidos gestionables y emisiones indirectas. DECIR: 0,41 m³/t; 40,5 t/año de rebaba especial; 538 t CO₂/año. PREGUNTA POSIBLE: ¿el factor de 0,35? Es un marcador: debe reemplazarse por el del año vigente [10].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IDEA: cada indicador se presenta con su base de cálculo y su equivalente por módulo. DECIR: 296,52 kWh/t, que son 8,30 kWh por módulo y 15,38 MWh/MWp. PREGUNTA POSIBLE: ¿contra qué lo comparan? No adoptamos una tabla de rangos externa porque no encontramos una fuente publicada aplicable a una planta de ensamble; por eso cada indicador lleva su base de cálculo a la vista y la energía se informa además en MWh/MWp, que es la unidad propia de la industria fotovoltaica. OTRA: ¿por qué es alto en kWh/t? Porque la planta arma y no transforma materia: producto liviano y voluminoso, con el consumo concentrado en el HVAC, que corre 24 h, y en el laminado.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IDEA: resultados, dónde mejorar y qué validar. DECIR: la materia cierra al 100,00 %; C-101 al 84,1 % con 35.135 mód/año de margen; 1.537,52 MWh/año y transformador de 500 kVA; 296,52 kWh/t equivalentes a 15,38 MWh/MWp. Mejoras: recuperar calor de la cámara de laminación, aislar placas y campana, e instrumentar laminadora y HVAC, que son los que gobiernan el consumo específico. PREGUNTA POSIBLE: ¿qué es lo más incierto? El rendimiento adoptado para C-101: en el balance eléctrico tomamos 30 %, mientras que el balance térmico, calculado con masa, calor específico y salto de temperatura, da 35,7 %. Adoptamos el valor conservador y queda declarado como hipótesis. Después, las potencias de los equipos sin ficha publicada.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072896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96" kern="0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TRABAJO PRÁCTICO ANUAL / INSTALACIONES INDUSTRIALES · 2026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72540"/>
            <a:ext cx="107289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UTN · Facultad Regional La Plata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2625090"/>
            <a:ext cx="1072896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78" kern="0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CONSUMOS ESPECÍFICOS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3154680"/>
            <a:ext cx="10046208" cy="212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234"/>
              </a:lnSpc>
              <a:buNone/>
            </a:pPr>
            <a:r>
              <a:rPr lang="en-US" sz="8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 de módulos fotovoltaicos </a:t>
            </a:r>
            <a:pPr algn="l" indent="0" marL="0">
              <a:lnSpc>
                <a:spcPct val="80234"/>
              </a:lnSpc>
              <a:buNone/>
            </a:pPr>
            <a:r>
              <a:rPr lang="en-US" sz="8400" b="1" i="1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1047750" y="5569268"/>
            <a:ext cx="107289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540 Wp · Capacidad 100 MWp/año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047750" y="6083618"/>
            <a:ext cx="1072896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Consumos específicos, efluentes y balances de materia y energía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047750" y="8553450"/>
            <a:ext cx="9753600" cy="9525"/>
          </a:xfrm>
          <a:prstGeom prst="rect">
            <a:avLst/>
          </a:prstGeom>
          <a:solidFill>
            <a:srgbClr val="1E3D55"/>
          </a:solidFill>
          <a:ln/>
        </p:spPr>
      </p:sp>
      <p:sp>
        <p:nvSpPr>
          <p:cNvPr id="9" name="Text 7"/>
          <p:cNvSpPr/>
          <p:nvPr/>
        </p:nvSpPr>
        <p:spPr>
          <a:xfrm>
            <a:off x="1047750" y="8789670"/>
            <a:ext cx="1004620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N.º 9 · [integrantes]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47750" y="9243060"/>
            <a:ext cx="305720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Ing. Santiago Saccon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75214" y="9243060"/>
            <a:ext cx="26687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de septiembre de 2026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563350" y="2638425"/>
            <a:ext cx="5676900" cy="5105400"/>
          </a:xfrm>
          <a:prstGeom prst="roundRect">
            <a:avLst>
              <a:gd name="adj" fmla="val 1866"/>
            </a:avLst>
          </a:prstGeom>
          <a:solidFill>
            <a:srgbClr val="0C1C29"/>
          </a:solidFill>
          <a:ln/>
        </p:spPr>
      </p:sp>
      <p:sp>
        <p:nvSpPr>
          <p:cNvPr id="13" name="Shape 11"/>
          <p:cNvSpPr/>
          <p:nvPr/>
        </p:nvSpPr>
        <p:spPr>
          <a:xfrm>
            <a:off x="11734800" y="2809875"/>
            <a:ext cx="809625" cy="1524000"/>
          </a:xfrm>
          <a:prstGeom prst="roundRect">
            <a:avLst>
              <a:gd name="adj" fmla="val 4706"/>
            </a:avLst>
          </a:prstGeom>
          <a:solidFill>
            <a:srgbClr val="1E3D55"/>
          </a:solidFill>
          <a:ln/>
        </p:spPr>
      </p:sp>
      <p:sp>
        <p:nvSpPr>
          <p:cNvPr id="14" name="Shape 12"/>
          <p:cNvSpPr/>
          <p:nvPr/>
        </p:nvSpPr>
        <p:spPr>
          <a:xfrm>
            <a:off x="12639675" y="2809875"/>
            <a:ext cx="809625" cy="1524000"/>
          </a:xfrm>
          <a:prstGeom prst="roundRect">
            <a:avLst>
              <a:gd name="adj" fmla="val 4706"/>
            </a:avLst>
          </a:prstGeom>
          <a:solidFill>
            <a:srgbClr val="1E3D55"/>
          </a:solidFill>
          <a:ln/>
        </p:spPr>
      </p:sp>
      <p:sp>
        <p:nvSpPr>
          <p:cNvPr id="15" name="Shape 13"/>
          <p:cNvSpPr/>
          <p:nvPr/>
        </p:nvSpPr>
        <p:spPr>
          <a:xfrm>
            <a:off x="13544550" y="2809875"/>
            <a:ext cx="809625" cy="1524000"/>
          </a:xfrm>
          <a:prstGeom prst="roundRect">
            <a:avLst>
              <a:gd name="adj" fmla="val 4706"/>
            </a:avLst>
          </a:prstGeom>
          <a:solidFill>
            <a:srgbClr val="5DD3A8"/>
          </a:solidFill>
          <a:ln/>
        </p:spPr>
      </p:sp>
      <p:sp>
        <p:nvSpPr>
          <p:cNvPr id="16" name="Shape 14"/>
          <p:cNvSpPr/>
          <p:nvPr/>
        </p:nvSpPr>
        <p:spPr>
          <a:xfrm>
            <a:off x="14449425" y="2809875"/>
            <a:ext cx="809625" cy="1524000"/>
          </a:xfrm>
          <a:prstGeom prst="roundRect">
            <a:avLst>
              <a:gd name="adj" fmla="val 4706"/>
            </a:avLst>
          </a:prstGeom>
          <a:solidFill>
            <a:srgbClr val="1E3D55"/>
          </a:solidFill>
          <a:ln/>
        </p:spPr>
      </p:sp>
      <p:sp>
        <p:nvSpPr>
          <p:cNvPr id="17" name="Shape 15"/>
          <p:cNvSpPr/>
          <p:nvPr/>
        </p:nvSpPr>
        <p:spPr>
          <a:xfrm>
            <a:off x="15354300" y="2809875"/>
            <a:ext cx="809625" cy="1524000"/>
          </a:xfrm>
          <a:prstGeom prst="roundRect">
            <a:avLst>
              <a:gd name="adj" fmla="val 4706"/>
            </a:avLst>
          </a:prstGeom>
          <a:solidFill>
            <a:srgbClr val="1E3D55"/>
          </a:solidFill>
          <a:ln/>
        </p:spPr>
      </p:sp>
      <p:sp>
        <p:nvSpPr>
          <p:cNvPr id="18" name="Shape 16"/>
          <p:cNvSpPr/>
          <p:nvPr/>
        </p:nvSpPr>
        <p:spPr>
          <a:xfrm>
            <a:off x="16259175" y="2809875"/>
            <a:ext cx="809625" cy="1524000"/>
          </a:xfrm>
          <a:prstGeom prst="roundRect">
            <a:avLst>
              <a:gd name="adj" fmla="val 4706"/>
            </a:avLst>
          </a:prstGeom>
          <a:solidFill>
            <a:srgbClr val="1E3D55"/>
          </a:solidFill>
          <a:ln/>
        </p:spPr>
      </p:sp>
      <p:sp>
        <p:nvSpPr>
          <p:cNvPr id="19" name="Shape 17"/>
          <p:cNvSpPr/>
          <p:nvPr/>
        </p:nvSpPr>
        <p:spPr>
          <a:xfrm>
            <a:off x="11734800" y="4429125"/>
            <a:ext cx="809625" cy="1524000"/>
          </a:xfrm>
          <a:prstGeom prst="roundRect">
            <a:avLst>
              <a:gd name="adj" fmla="val 4706"/>
            </a:avLst>
          </a:prstGeom>
          <a:solidFill>
            <a:srgbClr val="1E3D55"/>
          </a:solidFill>
          <a:ln/>
        </p:spPr>
      </p:sp>
      <p:sp>
        <p:nvSpPr>
          <p:cNvPr id="20" name="Shape 18"/>
          <p:cNvSpPr/>
          <p:nvPr/>
        </p:nvSpPr>
        <p:spPr>
          <a:xfrm>
            <a:off x="12639675" y="4429125"/>
            <a:ext cx="809625" cy="1524000"/>
          </a:xfrm>
          <a:prstGeom prst="roundRect">
            <a:avLst>
              <a:gd name="adj" fmla="val 4706"/>
            </a:avLst>
          </a:prstGeom>
          <a:solidFill>
            <a:srgbClr val="1E3D55"/>
          </a:solidFill>
          <a:ln/>
        </p:spPr>
      </p:sp>
      <p:sp>
        <p:nvSpPr>
          <p:cNvPr id="21" name="Shape 19"/>
          <p:cNvSpPr/>
          <p:nvPr/>
        </p:nvSpPr>
        <p:spPr>
          <a:xfrm>
            <a:off x="13544550" y="4429125"/>
            <a:ext cx="809625" cy="1524000"/>
          </a:xfrm>
          <a:prstGeom prst="roundRect">
            <a:avLst>
              <a:gd name="adj" fmla="val 4706"/>
            </a:avLst>
          </a:prstGeom>
          <a:solidFill>
            <a:srgbClr val="1E3D55"/>
          </a:solidFill>
          <a:ln/>
        </p:spPr>
      </p:sp>
      <p:sp>
        <p:nvSpPr>
          <p:cNvPr id="22" name="Shape 20"/>
          <p:cNvSpPr/>
          <p:nvPr/>
        </p:nvSpPr>
        <p:spPr>
          <a:xfrm>
            <a:off x="14449425" y="4429125"/>
            <a:ext cx="809625" cy="1524000"/>
          </a:xfrm>
          <a:prstGeom prst="roundRect">
            <a:avLst>
              <a:gd name="adj" fmla="val 4706"/>
            </a:avLst>
          </a:prstGeom>
          <a:solidFill>
            <a:srgbClr val="1E3D55"/>
          </a:solidFill>
          <a:ln/>
        </p:spPr>
      </p:sp>
      <p:sp>
        <p:nvSpPr>
          <p:cNvPr id="23" name="Shape 21"/>
          <p:cNvSpPr/>
          <p:nvPr/>
        </p:nvSpPr>
        <p:spPr>
          <a:xfrm>
            <a:off x="15354300" y="4429125"/>
            <a:ext cx="809625" cy="1524000"/>
          </a:xfrm>
          <a:prstGeom prst="roundRect">
            <a:avLst>
              <a:gd name="adj" fmla="val 4706"/>
            </a:avLst>
          </a:prstGeom>
          <a:solidFill>
            <a:srgbClr val="1F7A5C"/>
          </a:solidFill>
          <a:ln/>
        </p:spPr>
      </p:sp>
      <p:sp>
        <p:nvSpPr>
          <p:cNvPr id="24" name="Shape 22"/>
          <p:cNvSpPr/>
          <p:nvPr/>
        </p:nvSpPr>
        <p:spPr>
          <a:xfrm>
            <a:off x="16259175" y="4429125"/>
            <a:ext cx="809625" cy="1524000"/>
          </a:xfrm>
          <a:prstGeom prst="roundRect">
            <a:avLst>
              <a:gd name="adj" fmla="val 4706"/>
            </a:avLst>
          </a:prstGeom>
          <a:solidFill>
            <a:srgbClr val="1E3D55"/>
          </a:solidFill>
          <a:ln/>
        </p:spPr>
      </p:sp>
      <p:sp>
        <p:nvSpPr>
          <p:cNvPr id="25" name="Shape 23"/>
          <p:cNvSpPr/>
          <p:nvPr/>
        </p:nvSpPr>
        <p:spPr>
          <a:xfrm>
            <a:off x="11734800" y="6048375"/>
            <a:ext cx="809625" cy="1524000"/>
          </a:xfrm>
          <a:prstGeom prst="roundRect">
            <a:avLst>
              <a:gd name="adj" fmla="val 4706"/>
            </a:avLst>
          </a:prstGeom>
          <a:solidFill>
            <a:srgbClr val="1E3D55"/>
          </a:solidFill>
          <a:ln/>
        </p:spPr>
      </p:sp>
      <p:sp>
        <p:nvSpPr>
          <p:cNvPr id="26" name="Shape 24"/>
          <p:cNvSpPr/>
          <p:nvPr/>
        </p:nvSpPr>
        <p:spPr>
          <a:xfrm>
            <a:off x="12639675" y="6048375"/>
            <a:ext cx="809625" cy="1524000"/>
          </a:xfrm>
          <a:prstGeom prst="roundRect">
            <a:avLst>
              <a:gd name="adj" fmla="val 4706"/>
            </a:avLst>
          </a:prstGeom>
          <a:solidFill>
            <a:srgbClr val="1E3D55"/>
          </a:solidFill>
          <a:ln/>
        </p:spPr>
      </p:sp>
      <p:sp>
        <p:nvSpPr>
          <p:cNvPr id="27" name="Shape 25"/>
          <p:cNvSpPr/>
          <p:nvPr/>
        </p:nvSpPr>
        <p:spPr>
          <a:xfrm>
            <a:off x="13544550" y="6048375"/>
            <a:ext cx="809625" cy="1524000"/>
          </a:xfrm>
          <a:prstGeom prst="roundRect">
            <a:avLst>
              <a:gd name="adj" fmla="val 4706"/>
            </a:avLst>
          </a:prstGeom>
          <a:solidFill>
            <a:srgbClr val="1E3D55"/>
          </a:solidFill>
          <a:ln/>
        </p:spPr>
      </p:sp>
      <p:sp>
        <p:nvSpPr>
          <p:cNvPr id="28" name="Shape 26"/>
          <p:cNvSpPr/>
          <p:nvPr/>
        </p:nvSpPr>
        <p:spPr>
          <a:xfrm>
            <a:off x="14449425" y="6048375"/>
            <a:ext cx="809625" cy="1524000"/>
          </a:xfrm>
          <a:prstGeom prst="roundRect">
            <a:avLst>
              <a:gd name="adj" fmla="val 4706"/>
            </a:avLst>
          </a:prstGeom>
          <a:solidFill>
            <a:srgbClr val="1E3D55"/>
          </a:solidFill>
          <a:ln/>
        </p:spPr>
      </p:sp>
      <p:sp>
        <p:nvSpPr>
          <p:cNvPr id="29" name="Shape 27"/>
          <p:cNvSpPr/>
          <p:nvPr/>
        </p:nvSpPr>
        <p:spPr>
          <a:xfrm>
            <a:off x="15354300" y="6048375"/>
            <a:ext cx="809625" cy="1524000"/>
          </a:xfrm>
          <a:prstGeom prst="roundRect">
            <a:avLst>
              <a:gd name="adj" fmla="val 4706"/>
            </a:avLst>
          </a:prstGeom>
          <a:solidFill>
            <a:srgbClr val="1E3D55"/>
          </a:solidFill>
          <a:ln/>
        </p:spPr>
      </p:sp>
      <p:sp>
        <p:nvSpPr>
          <p:cNvPr id="30" name="Shape 28"/>
          <p:cNvSpPr/>
          <p:nvPr/>
        </p:nvSpPr>
        <p:spPr>
          <a:xfrm>
            <a:off x="16259175" y="6048375"/>
            <a:ext cx="809625" cy="1524000"/>
          </a:xfrm>
          <a:prstGeom prst="roundRect">
            <a:avLst>
              <a:gd name="adj" fmla="val 4706"/>
            </a:avLst>
          </a:prstGeom>
          <a:solidFill>
            <a:srgbClr val="1E3D5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96" kern="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PRODUCTO, PROCESO Y BASE DE DISEÑO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15390"/>
            <a:ext cx="17811750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011"/>
              </a:lnSpc>
              <a:buNone/>
            </a:pPr>
            <a:r>
              <a:rPr lang="en-US" sz="45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módulo de 540 Wp, a</a:t>
            </a:r>
            <a:pPr algn="l" indent="0" marL="0">
              <a:lnSpc>
                <a:spcPct val="89011"/>
              </a:lnSpc>
              <a:buNone/>
            </a:pPr>
            <a:r>
              <a:rPr lang="en-US" sz="4500" b="1" i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30,26 mód/h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137410"/>
            <a:ext cx="16192500" cy="19050"/>
          </a:xfrm>
          <a:prstGeom prst="rect">
            <a:avLst/>
          </a:prstGeom>
          <a:solidFill>
            <a:srgbClr val="DCDBD7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2499360"/>
            <a:ext cx="3923347" cy="1565910"/>
          </a:xfrm>
          <a:prstGeom prst="roundRect">
            <a:avLst>
              <a:gd name="adj" fmla="val 6083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3970" y="2716530"/>
            <a:ext cx="379599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3970" y="3055620"/>
            <a:ext cx="379599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kg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283970" y="3566160"/>
            <a:ext cx="379599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 medias celdas M10 · 20,94 % [1]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142548" y="2499360"/>
            <a:ext cx="3923347" cy="1565910"/>
          </a:xfrm>
          <a:prstGeom prst="roundRect">
            <a:avLst>
              <a:gd name="adj" fmla="val 6083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78768" y="2716530"/>
            <a:ext cx="379599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EFECTIVAS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78768" y="3055620"/>
            <a:ext cx="379599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6.120 h/año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5378768" y="3566160"/>
            <a:ext cx="379599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días × 24 h × 85 %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37345" y="2499360"/>
            <a:ext cx="3923347" cy="1565910"/>
          </a:xfrm>
          <a:prstGeom prst="roundRect">
            <a:avLst>
              <a:gd name="adj" fmla="val 6083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73565" y="2716530"/>
            <a:ext cx="379599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473565" y="3055620"/>
            <a:ext cx="379599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185.185 mód/año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9473565" y="3566160"/>
            <a:ext cx="379599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100.000.000 Wp ÷ 540 Wp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3332143" y="2499360"/>
            <a:ext cx="3908108" cy="1565910"/>
          </a:xfrm>
          <a:prstGeom prst="roundRect">
            <a:avLst>
              <a:gd name="adj" fmla="val 6083"/>
            </a:avLst>
          </a:prstGeom>
          <a:solidFill>
            <a:srgbClr val="12283A"/>
          </a:solidFill>
          <a:ln/>
        </p:spPr>
      </p:sp>
      <p:sp>
        <p:nvSpPr>
          <p:cNvPr id="18" name="Text 16"/>
          <p:cNvSpPr/>
          <p:nvPr/>
        </p:nvSpPr>
        <p:spPr>
          <a:xfrm>
            <a:off x="13560743" y="2708910"/>
            <a:ext cx="379599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RITMO DE LÍNEA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560743" y="3048000"/>
            <a:ext cx="379599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30,26 mód/h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13560743" y="3558540"/>
            <a:ext cx="379599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4.357 celdas/h · 17,28 t/día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47750" y="5823585"/>
            <a:ext cx="1102519" cy="868680"/>
          </a:xfrm>
          <a:prstGeom prst="roundRect">
            <a:avLst>
              <a:gd name="adj" fmla="val 43860"/>
            </a:avLst>
          </a:prstGeom>
          <a:solidFill>
            <a:srgbClr val="12283A"/>
          </a:solidFill>
          <a:ln/>
        </p:spPr>
      </p:sp>
      <p:sp>
        <p:nvSpPr>
          <p:cNvPr id="22" name="Text 20"/>
          <p:cNvSpPr/>
          <p:nvPr/>
        </p:nvSpPr>
        <p:spPr>
          <a:xfrm>
            <a:off x="1295400" y="5823585"/>
            <a:ext cx="683419" cy="906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Celdas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2245519" y="5823585"/>
            <a:ext cx="3677245" cy="868680"/>
          </a:xfrm>
          <a:prstGeom prst="roundRect">
            <a:avLst>
              <a:gd name="adj" fmla="val 10965"/>
            </a:avLst>
          </a:prstGeom>
          <a:solidFill>
            <a:srgbClr val="3D5163"/>
          </a:solidFill>
          <a:ln/>
        </p:spPr>
      </p:sp>
      <p:sp>
        <p:nvSpPr>
          <p:cNvPr id="24" name="Text 22"/>
          <p:cNvSpPr/>
          <p:nvPr/>
        </p:nvSpPr>
        <p:spPr>
          <a:xfrm>
            <a:off x="2397919" y="5975985"/>
            <a:ext cx="37096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E-101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397919" y="6257925"/>
            <a:ext cx="37096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e insp. EL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018014" y="5823585"/>
            <a:ext cx="3677245" cy="868680"/>
          </a:xfrm>
          <a:prstGeom prst="roundRect">
            <a:avLst>
              <a:gd name="adj" fmla="val 10965"/>
            </a:avLst>
          </a:prstGeom>
          <a:solidFill>
            <a:srgbClr val="3D5163"/>
          </a:solidFill>
          <a:ln/>
        </p:spPr>
      </p:sp>
      <p:sp>
        <p:nvSpPr>
          <p:cNvPr id="27" name="Text 25"/>
          <p:cNvSpPr/>
          <p:nvPr/>
        </p:nvSpPr>
        <p:spPr>
          <a:xfrm>
            <a:off x="6170414" y="5975985"/>
            <a:ext cx="37096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PRO-01 · E-102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170414" y="6257925"/>
            <a:ext cx="37096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Soldadura de celdas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790509" y="5823585"/>
            <a:ext cx="3677245" cy="868680"/>
          </a:xfrm>
          <a:prstGeom prst="roundRect">
            <a:avLst>
              <a:gd name="adj" fmla="val 10965"/>
            </a:avLst>
          </a:prstGeom>
          <a:solidFill>
            <a:srgbClr val="3D5163"/>
          </a:solidFill>
          <a:ln/>
        </p:spPr>
      </p:sp>
      <p:sp>
        <p:nvSpPr>
          <p:cNvPr id="30" name="Text 28"/>
          <p:cNvSpPr/>
          <p:nvPr/>
        </p:nvSpPr>
        <p:spPr>
          <a:xfrm>
            <a:off x="9942909" y="5975985"/>
            <a:ext cx="37096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PRO-02 · E-103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942909" y="6257925"/>
            <a:ext cx="37096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Apilado del sándwich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3563005" y="5823585"/>
            <a:ext cx="3677245" cy="868680"/>
          </a:xfrm>
          <a:prstGeom prst="roundRect">
            <a:avLst>
              <a:gd name="adj" fmla="val 10965"/>
            </a:avLst>
          </a:prstGeom>
          <a:solidFill>
            <a:srgbClr val="3D5163"/>
          </a:solidFill>
          <a:ln w="38100">
            <a:solidFill>
              <a:srgbClr val="D991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15405" y="5975985"/>
            <a:ext cx="37096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PRO-03 · C-101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3715405" y="6257925"/>
            <a:ext cx="37096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Laminado al vacío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047750" y="6844665"/>
            <a:ext cx="4798576" cy="868680"/>
          </a:xfrm>
          <a:prstGeom prst="roundRect">
            <a:avLst>
              <a:gd name="adj" fmla="val 10965"/>
            </a:avLst>
          </a:prstGeom>
          <a:solidFill>
            <a:srgbClr val="3D5163"/>
          </a:solidFill>
          <a:ln/>
        </p:spPr>
      </p:sp>
      <p:sp>
        <p:nvSpPr>
          <p:cNvPr id="36" name="Text 34"/>
          <p:cNvSpPr/>
          <p:nvPr/>
        </p:nvSpPr>
        <p:spPr>
          <a:xfrm>
            <a:off x="1200150" y="6997065"/>
            <a:ext cx="494315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PRO-04 · E-104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200150" y="7279005"/>
            <a:ext cx="494315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y caja de conexión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5941576" y="6844665"/>
            <a:ext cx="4798576" cy="868680"/>
          </a:xfrm>
          <a:prstGeom prst="roundRect">
            <a:avLst>
              <a:gd name="adj" fmla="val 10965"/>
            </a:avLst>
          </a:prstGeom>
          <a:solidFill>
            <a:srgbClr val="3D5163"/>
          </a:solidFill>
          <a:ln/>
        </p:spPr>
      </p:sp>
      <p:sp>
        <p:nvSpPr>
          <p:cNvPr id="39" name="Text 37"/>
          <p:cNvSpPr/>
          <p:nvPr/>
        </p:nvSpPr>
        <p:spPr>
          <a:xfrm>
            <a:off x="6093976" y="6997065"/>
            <a:ext cx="494315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RED-01 · E-105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093976" y="7279005"/>
            <a:ext cx="494315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Ensayo STC y control final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0835403" y="6844665"/>
            <a:ext cx="4798576" cy="868680"/>
          </a:xfrm>
          <a:prstGeom prst="roundRect">
            <a:avLst>
              <a:gd name="adj" fmla="val 10965"/>
            </a:avLst>
          </a:prstGeom>
          <a:solidFill>
            <a:srgbClr val="3D5163"/>
          </a:solidFill>
          <a:ln/>
        </p:spPr>
      </p:sp>
      <p:sp>
        <p:nvSpPr>
          <p:cNvPr id="42" name="Text 40"/>
          <p:cNvSpPr/>
          <p:nvPr/>
        </p:nvSpPr>
        <p:spPr>
          <a:xfrm>
            <a:off x="10987803" y="6997065"/>
            <a:ext cx="494315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RED-02 · E-106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0987803" y="7279005"/>
            <a:ext cx="494315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y empaque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5729228" y="6844665"/>
            <a:ext cx="1511022" cy="868680"/>
          </a:xfrm>
          <a:prstGeom prst="roundRect">
            <a:avLst>
              <a:gd name="adj" fmla="val 43860"/>
            </a:avLst>
          </a:prstGeom>
          <a:solidFill>
            <a:srgbClr val="12283A"/>
          </a:solidFill>
          <a:ln/>
        </p:spPr>
      </p:sp>
      <p:sp>
        <p:nvSpPr>
          <p:cNvPr id="45" name="Text 43"/>
          <p:cNvSpPr/>
          <p:nvPr/>
        </p:nvSpPr>
        <p:spPr>
          <a:xfrm>
            <a:off x="15976878" y="6844665"/>
            <a:ext cx="1091922" cy="906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FV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047750" y="9471660"/>
            <a:ext cx="891268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9 · Fase 3 · Consumos específicos · informe Fase 3, secciones 1 y 3 · Tabla 3.1 · [1]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6585049" y="9471660"/>
            <a:ext cx="7314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96" kern="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DEMANDA · MERCADO Y PARTICIPACIÓN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15390"/>
            <a:ext cx="17811750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011"/>
              </a:lnSpc>
              <a:buNone/>
            </a:pPr>
            <a:r>
              <a:rPr lang="en-US" sz="45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cubre el</a:t>
            </a:r>
            <a:pPr algn="l" indent="0" marL="0">
              <a:lnSpc>
                <a:spcPct val="89011"/>
              </a:lnSpc>
              <a:buNone/>
            </a:pPr>
            <a:r>
              <a:rPr lang="en-US" sz="4500" b="1" i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16,7 %</a:t>
            </a:r>
            <a:pPr algn="l" indent="0" marL="0">
              <a:lnSpc>
                <a:spcPct val="89011"/>
              </a:lnSpc>
              <a:buNone/>
            </a:pPr>
            <a:r>
              <a:rPr lang="en-US" sz="45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incorporación anual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137410"/>
            <a:ext cx="16192500" cy="19050"/>
          </a:xfrm>
          <a:prstGeom prst="rect">
            <a:avLst/>
          </a:prstGeom>
          <a:solidFill>
            <a:srgbClr val="DCDBD7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2499360"/>
            <a:ext cx="4448175" cy="1691640"/>
          </a:xfrm>
          <a:prstGeom prst="roundRect">
            <a:avLst>
              <a:gd name="adj" fmla="val 5631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3970" y="2735580"/>
            <a:ext cx="437330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3970" y="3017520"/>
            <a:ext cx="4373308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1.933 MW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283970" y="3672840"/>
            <a:ext cx="437330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en el MEM [11]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667375" y="2499360"/>
            <a:ext cx="4448175" cy="1691640"/>
          </a:xfrm>
          <a:prstGeom prst="roundRect">
            <a:avLst>
              <a:gd name="adj" fmla="val 5631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03595" y="2735580"/>
            <a:ext cx="437330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FEBRERO 2026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03595" y="3017520"/>
            <a:ext cx="4373308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2.483 MW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5903595" y="3672840"/>
            <a:ext cx="437330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en el MEM [11]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47750" y="4362450"/>
            <a:ext cx="4448175" cy="1691640"/>
          </a:xfrm>
          <a:prstGeom prst="roundRect">
            <a:avLst>
              <a:gd name="adj" fmla="val 5631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3970" y="4598670"/>
            <a:ext cx="437330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2025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3970" y="4880610"/>
            <a:ext cx="4373308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1.010 MW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1283970" y="5535930"/>
            <a:ext cx="437330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eólica y solar [12]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667375" y="4362450"/>
            <a:ext cx="4448175" cy="1691640"/>
          </a:xfrm>
          <a:prstGeom prst="roundRect">
            <a:avLst>
              <a:gd name="adj" fmla="val 5631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03595" y="4598670"/>
            <a:ext cx="437330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2025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03595" y="4880610"/>
            <a:ext cx="4373308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5.106 GWh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5903595" y="5535930"/>
            <a:ext cx="437330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6 millones de módulos [12]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47750" y="6225540"/>
            <a:ext cx="9067800" cy="2979420"/>
          </a:xfrm>
          <a:prstGeom prst="roundRect">
            <a:avLst>
              <a:gd name="adj" fmla="val 3197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41120" y="6480810"/>
            <a:ext cx="932916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MEM subestima el mercado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341120" y="6907530"/>
            <a:ext cx="8735492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88"/>
              </a:lnSpc>
              <a:buNone/>
            </a:pPr>
            <a:r>
              <a:rPr lang="en-US" sz="1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distribuida y fuera de red no están contabilizadas. Antecedente: EPSE San Juan, 800.000 módulos/año, unos 450 MW [13].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0420350" y="2499360"/>
            <a:ext cx="6819900" cy="6705600"/>
          </a:xfrm>
          <a:prstGeom prst="roundRect">
            <a:avLst>
              <a:gd name="adj" fmla="val 1420"/>
            </a:avLst>
          </a:prstGeom>
          <a:solidFill>
            <a:srgbClr val="12283A"/>
          </a:solidFill>
          <a:ln/>
        </p:spPr>
      </p:sp>
      <p:sp>
        <p:nvSpPr>
          <p:cNvPr id="25" name="Text 23"/>
          <p:cNvSpPr/>
          <p:nvPr/>
        </p:nvSpPr>
        <p:spPr>
          <a:xfrm>
            <a:off x="10877550" y="2918460"/>
            <a:ext cx="64960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OBJETIVO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877550" y="3409950"/>
            <a:ext cx="649605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MWp/año ÷ 600 MWp/año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0877550" y="5871210"/>
            <a:ext cx="649605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117"/>
              </a:lnSpc>
              <a:buNone/>
            </a:pPr>
            <a:r>
              <a:rPr lang="en-US" sz="13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16,7 %</a:t>
            </a:r>
            <a:endParaRPr lang="en-US" sz="13500" dirty="0"/>
          </a:p>
        </p:txBody>
      </p:sp>
      <p:sp>
        <p:nvSpPr>
          <p:cNvPr id="28" name="Shape 26"/>
          <p:cNvSpPr/>
          <p:nvPr/>
        </p:nvSpPr>
        <p:spPr>
          <a:xfrm>
            <a:off x="10877550" y="7795260"/>
            <a:ext cx="5905500" cy="209550"/>
          </a:xfrm>
          <a:prstGeom prst="roundRect">
            <a:avLst>
              <a:gd name="adj" fmla="val 50000"/>
            </a:avLst>
          </a:prstGeom>
          <a:solidFill>
            <a:srgbClr val="1E3D55"/>
          </a:solidFill>
          <a:ln/>
        </p:spPr>
      </p:sp>
      <p:sp>
        <p:nvSpPr>
          <p:cNvPr id="29" name="Shape 27"/>
          <p:cNvSpPr/>
          <p:nvPr/>
        </p:nvSpPr>
        <p:spPr>
          <a:xfrm>
            <a:off x="10877550" y="7795260"/>
            <a:ext cx="986195" cy="209550"/>
          </a:xfrm>
          <a:prstGeom prst="rect">
            <a:avLst/>
          </a:prstGeom>
          <a:solidFill>
            <a:srgbClr val="5DD3A8"/>
          </a:solidFill>
          <a:ln/>
        </p:spPr>
      </p:sp>
      <p:sp>
        <p:nvSpPr>
          <p:cNvPr id="30" name="Text 28"/>
          <p:cNvSpPr/>
          <p:nvPr/>
        </p:nvSpPr>
        <p:spPr>
          <a:xfrm>
            <a:off x="10877550" y="8176260"/>
            <a:ext cx="608266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demanda fuera menor, la línea opera por debajo de su capacidad sin cambiar equipos.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047750" y="9471660"/>
            <a:ext cx="7875413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9 · Fase 3 · Consumos específicos · informe Fase 3, sección 2 · Tabla 2.1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6585049" y="9471660"/>
            <a:ext cx="7314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96" kern="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CAPACIDAD DEL PROCESO · CUELLO DE BOTELLA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15390"/>
            <a:ext cx="17811750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011"/>
              </a:lnSpc>
              <a:buNone/>
            </a:pPr>
            <a:r>
              <a:rPr lang="en-US" sz="45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laminadora</a:t>
            </a:r>
            <a:pPr algn="l" indent="0" marL="0">
              <a:lnSpc>
                <a:spcPct val="89011"/>
              </a:lnSpc>
              <a:buNone/>
            </a:pPr>
            <a:r>
              <a:rPr lang="en-US" sz="4500" b="1" i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C-101</a:t>
            </a:r>
            <a:pPr algn="l" indent="0" marL="0">
              <a:lnSpc>
                <a:spcPct val="89011"/>
              </a:lnSpc>
              <a:buNone/>
            </a:pPr>
            <a:r>
              <a:rPr lang="en-US" sz="45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el ritmo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137410"/>
            <a:ext cx="16192500" cy="19050"/>
          </a:xfrm>
          <a:prstGeom prst="rect">
            <a:avLst/>
          </a:prstGeom>
          <a:solidFill>
            <a:srgbClr val="DCDBD7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2461260"/>
            <a:ext cx="1144143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Utilización = ritmo de diseño ÷ capacidad nominal (90 % de la instalada)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3236595"/>
            <a:ext cx="3352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D9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Laminadora C-101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4267200" y="3227070"/>
            <a:ext cx="5962650" cy="323850"/>
          </a:xfrm>
          <a:prstGeom prst="roundRect">
            <a:avLst>
              <a:gd name="adj" fmla="val 11765"/>
            </a:avLst>
          </a:prstGeom>
          <a:solidFill>
            <a:srgbClr val="ECEBE7"/>
          </a:solidFill>
          <a:ln/>
        </p:spPr>
      </p:sp>
      <p:sp>
        <p:nvSpPr>
          <p:cNvPr id="8" name="Shape 6"/>
          <p:cNvSpPr/>
          <p:nvPr/>
        </p:nvSpPr>
        <p:spPr>
          <a:xfrm>
            <a:off x="4267200" y="3227070"/>
            <a:ext cx="5014556" cy="323850"/>
          </a:xfrm>
          <a:prstGeom prst="roundRect">
            <a:avLst>
              <a:gd name="adj" fmla="val 11765"/>
            </a:avLst>
          </a:prstGeom>
          <a:solidFill>
            <a:srgbClr val="D9912B"/>
          </a:solidFill>
          <a:ln/>
        </p:spPr>
      </p:sp>
      <p:sp>
        <p:nvSpPr>
          <p:cNvPr id="9" name="Text 7"/>
          <p:cNvSpPr/>
          <p:nvPr/>
        </p:nvSpPr>
        <p:spPr>
          <a:xfrm>
            <a:off x="10325100" y="3228975"/>
            <a:ext cx="11239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D9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84,1 %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47750" y="4044315"/>
            <a:ext cx="3352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Inspección EL E-101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4267200" y="4034790"/>
            <a:ext cx="5962650" cy="323850"/>
          </a:xfrm>
          <a:prstGeom prst="roundRect">
            <a:avLst>
              <a:gd name="adj" fmla="val 11765"/>
            </a:avLst>
          </a:prstGeom>
          <a:solidFill>
            <a:srgbClr val="ECEBE7"/>
          </a:solidFill>
          <a:ln/>
        </p:spPr>
      </p:sp>
      <p:sp>
        <p:nvSpPr>
          <p:cNvPr id="12" name="Shape 10"/>
          <p:cNvSpPr/>
          <p:nvPr/>
        </p:nvSpPr>
        <p:spPr>
          <a:xfrm>
            <a:off x="4267200" y="4034790"/>
            <a:ext cx="4811792" cy="323850"/>
          </a:xfrm>
          <a:prstGeom prst="roundRect">
            <a:avLst>
              <a:gd name="adj" fmla="val 11765"/>
            </a:avLst>
          </a:prstGeom>
          <a:solidFill>
            <a:srgbClr val="12283A"/>
          </a:solidFill>
          <a:ln/>
        </p:spPr>
      </p:sp>
      <p:sp>
        <p:nvSpPr>
          <p:cNvPr id="13" name="Text 11"/>
          <p:cNvSpPr/>
          <p:nvPr/>
        </p:nvSpPr>
        <p:spPr>
          <a:xfrm>
            <a:off x="10325100" y="4036695"/>
            <a:ext cx="11239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80,7 %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47750" y="4852035"/>
            <a:ext cx="3352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Lay-up E-103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4267200" y="4842510"/>
            <a:ext cx="5962650" cy="323850"/>
          </a:xfrm>
          <a:prstGeom prst="roundRect">
            <a:avLst>
              <a:gd name="adj" fmla="val 11765"/>
            </a:avLst>
          </a:prstGeom>
          <a:solidFill>
            <a:srgbClr val="ECEBE7"/>
          </a:solidFill>
          <a:ln/>
        </p:spPr>
      </p:sp>
      <p:sp>
        <p:nvSpPr>
          <p:cNvPr id="16" name="Shape 14"/>
          <p:cNvSpPr/>
          <p:nvPr/>
        </p:nvSpPr>
        <p:spPr>
          <a:xfrm>
            <a:off x="4267200" y="4842510"/>
            <a:ext cx="4454009" cy="323850"/>
          </a:xfrm>
          <a:prstGeom prst="roundRect">
            <a:avLst>
              <a:gd name="adj" fmla="val 11765"/>
            </a:avLst>
          </a:prstGeom>
          <a:solidFill>
            <a:srgbClr val="12283A"/>
          </a:solidFill>
          <a:ln/>
        </p:spPr>
      </p:sp>
      <p:sp>
        <p:nvSpPr>
          <p:cNvPr id="17" name="Text 15"/>
          <p:cNvSpPr/>
          <p:nvPr/>
        </p:nvSpPr>
        <p:spPr>
          <a:xfrm>
            <a:off x="10325100" y="4844415"/>
            <a:ext cx="11239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74,7 %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47750" y="5659755"/>
            <a:ext cx="3352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Stringer E-102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4267200" y="5650230"/>
            <a:ext cx="5962650" cy="323850"/>
          </a:xfrm>
          <a:prstGeom prst="roundRect">
            <a:avLst>
              <a:gd name="adj" fmla="val 11765"/>
            </a:avLst>
          </a:prstGeom>
          <a:solidFill>
            <a:srgbClr val="ECEBE7"/>
          </a:solidFill>
          <a:ln/>
        </p:spPr>
      </p:sp>
      <p:sp>
        <p:nvSpPr>
          <p:cNvPr id="20" name="Shape 18"/>
          <p:cNvSpPr/>
          <p:nvPr/>
        </p:nvSpPr>
        <p:spPr>
          <a:xfrm>
            <a:off x="4267200" y="5650230"/>
            <a:ext cx="4245293" cy="323850"/>
          </a:xfrm>
          <a:prstGeom prst="roundRect">
            <a:avLst>
              <a:gd name="adj" fmla="val 11765"/>
            </a:avLst>
          </a:prstGeom>
          <a:solidFill>
            <a:srgbClr val="12283A"/>
          </a:solidFill>
          <a:ln/>
        </p:spPr>
      </p:sp>
      <p:sp>
        <p:nvSpPr>
          <p:cNvPr id="21" name="Text 19"/>
          <p:cNvSpPr/>
          <p:nvPr/>
        </p:nvSpPr>
        <p:spPr>
          <a:xfrm>
            <a:off x="10325100" y="5652135"/>
            <a:ext cx="11239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71,2 %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047750" y="6467475"/>
            <a:ext cx="3352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Curado (240 posiciones)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4267200" y="6457950"/>
            <a:ext cx="5962650" cy="323850"/>
          </a:xfrm>
          <a:prstGeom prst="roundRect">
            <a:avLst>
              <a:gd name="adj" fmla="val 11765"/>
            </a:avLst>
          </a:prstGeom>
          <a:solidFill>
            <a:srgbClr val="ECEBE7"/>
          </a:solidFill>
          <a:ln/>
        </p:spPr>
      </p:sp>
      <p:sp>
        <p:nvSpPr>
          <p:cNvPr id="24" name="Shape 22"/>
          <p:cNvSpPr/>
          <p:nvPr/>
        </p:nvSpPr>
        <p:spPr>
          <a:xfrm>
            <a:off x="4267200" y="6457950"/>
            <a:ext cx="4173855" cy="323850"/>
          </a:xfrm>
          <a:prstGeom prst="roundRect">
            <a:avLst>
              <a:gd name="adj" fmla="val 11765"/>
            </a:avLst>
          </a:prstGeom>
          <a:solidFill>
            <a:srgbClr val="12283A"/>
          </a:solidFill>
          <a:ln/>
        </p:spPr>
      </p:sp>
      <p:sp>
        <p:nvSpPr>
          <p:cNvPr id="25" name="Text 23"/>
          <p:cNvSpPr/>
          <p:nvPr/>
        </p:nvSpPr>
        <p:spPr>
          <a:xfrm>
            <a:off x="10325100" y="6459855"/>
            <a:ext cx="11239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70,0 %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047750" y="7275195"/>
            <a:ext cx="3352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Recorte · E-104 · E-106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4267200" y="7265670"/>
            <a:ext cx="5962650" cy="323850"/>
          </a:xfrm>
          <a:prstGeom prst="roundRect">
            <a:avLst>
              <a:gd name="adj" fmla="val 11765"/>
            </a:avLst>
          </a:prstGeom>
          <a:solidFill>
            <a:srgbClr val="ECEBE7"/>
          </a:solidFill>
          <a:ln/>
        </p:spPr>
      </p:sp>
      <p:sp>
        <p:nvSpPr>
          <p:cNvPr id="28" name="Shape 26"/>
          <p:cNvSpPr/>
          <p:nvPr/>
        </p:nvSpPr>
        <p:spPr>
          <a:xfrm>
            <a:off x="4267200" y="7265670"/>
            <a:ext cx="3338989" cy="323850"/>
          </a:xfrm>
          <a:prstGeom prst="roundRect">
            <a:avLst>
              <a:gd name="adj" fmla="val 11765"/>
            </a:avLst>
          </a:prstGeom>
          <a:solidFill>
            <a:srgbClr val="3F7CA8"/>
          </a:solidFill>
          <a:ln/>
        </p:spPr>
      </p:sp>
      <p:sp>
        <p:nvSpPr>
          <p:cNvPr id="29" name="Text 27"/>
          <p:cNvSpPr/>
          <p:nvPr/>
        </p:nvSpPr>
        <p:spPr>
          <a:xfrm>
            <a:off x="10325100" y="7267575"/>
            <a:ext cx="11239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56,0 %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047750" y="8082915"/>
            <a:ext cx="3352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final e hi-pot E-105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4267200" y="8073390"/>
            <a:ext cx="5962650" cy="323850"/>
          </a:xfrm>
          <a:prstGeom prst="roundRect">
            <a:avLst>
              <a:gd name="adj" fmla="val 11765"/>
            </a:avLst>
          </a:prstGeom>
          <a:solidFill>
            <a:srgbClr val="ECEBE7"/>
          </a:solidFill>
          <a:ln/>
        </p:spPr>
      </p:sp>
      <p:sp>
        <p:nvSpPr>
          <p:cNvPr id="32" name="Shape 30"/>
          <p:cNvSpPr/>
          <p:nvPr/>
        </p:nvSpPr>
        <p:spPr>
          <a:xfrm>
            <a:off x="4267200" y="8073390"/>
            <a:ext cx="1669494" cy="323850"/>
          </a:xfrm>
          <a:prstGeom prst="roundRect">
            <a:avLst>
              <a:gd name="adj" fmla="val 11765"/>
            </a:avLst>
          </a:prstGeom>
          <a:solidFill>
            <a:srgbClr val="3F7CA8"/>
          </a:solidFill>
          <a:ln/>
        </p:spPr>
      </p:sp>
      <p:sp>
        <p:nvSpPr>
          <p:cNvPr id="33" name="Text 31"/>
          <p:cNvSpPr/>
          <p:nvPr/>
        </p:nvSpPr>
        <p:spPr>
          <a:xfrm>
            <a:off x="10325100" y="8075295"/>
            <a:ext cx="11239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28,0 %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1047750" y="8890635"/>
            <a:ext cx="3352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Ensayo flash E-105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4267200" y="8881110"/>
            <a:ext cx="5962650" cy="323850"/>
          </a:xfrm>
          <a:prstGeom prst="roundRect">
            <a:avLst>
              <a:gd name="adj" fmla="val 11765"/>
            </a:avLst>
          </a:prstGeom>
          <a:solidFill>
            <a:srgbClr val="ECEBE7"/>
          </a:solidFill>
          <a:ln/>
        </p:spPr>
      </p:sp>
      <p:sp>
        <p:nvSpPr>
          <p:cNvPr id="36" name="Shape 34"/>
          <p:cNvSpPr/>
          <p:nvPr/>
        </p:nvSpPr>
        <p:spPr>
          <a:xfrm>
            <a:off x="4267200" y="8881110"/>
            <a:ext cx="1114901" cy="323850"/>
          </a:xfrm>
          <a:prstGeom prst="roundRect">
            <a:avLst>
              <a:gd name="adj" fmla="val 11765"/>
            </a:avLst>
          </a:prstGeom>
          <a:solidFill>
            <a:srgbClr val="3F7CA8"/>
          </a:solidFill>
          <a:ln/>
        </p:spPr>
      </p:sp>
      <p:sp>
        <p:nvSpPr>
          <p:cNvPr id="37" name="Text 35"/>
          <p:cNvSpPr/>
          <p:nvPr/>
        </p:nvSpPr>
        <p:spPr>
          <a:xfrm>
            <a:off x="10325100" y="8883015"/>
            <a:ext cx="11239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18,7 %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11906250" y="2461260"/>
            <a:ext cx="5334000" cy="4168140"/>
          </a:xfrm>
          <a:prstGeom prst="roundRect">
            <a:avLst>
              <a:gd name="adj" fmla="val 2285"/>
            </a:avLst>
          </a:prstGeom>
          <a:solidFill>
            <a:srgbClr val="12283A"/>
          </a:solidFill>
          <a:ln/>
        </p:spPr>
      </p:sp>
      <p:sp>
        <p:nvSpPr>
          <p:cNvPr id="39" name="Text 37"/>
          <p:cNvSpPr/>
          <p:nvPr/>
        </p:nvSpPr>
        <p:spPr>
          <a:xfrm>
            <a:off x="12287250" y="2804160"/>
            <a:ext cx="50292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UTILIZACIÓN DE C-101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2287250" y="3219450"/>
            <a:ext cx="5029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30,26 ÷ 36 mód/h nominal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12287250" y="4480560"/>
            <a:ext cx="5029200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878"/>
              </a:lnSpc>
              <a:buNone/>
            </a:pPr>
            <a:r>
              <a:rPr lang="en-US" sz="1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84,1 %</a:t>
            </a:r>
            <a:endParaRPr lang="en-US" sz="11250" dirty="0"/>
          </a:p>
        </p:txBody>
      </p:sp>
      <p:sp>
        <p:nvSpPr>
          <p:cNvPr id="42" name="Text 40"/>
          <p:cNvSpPr/>
          <p:nvPr/>
        </p:nvSpPr>
        <p:spPr>
          <a:xfrm>
            <a:off x="12287250" y="6004560"/>
            <a:ext cx="50292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mód/h de catálogo [3] · 15,9 % ociosa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1906250" y="6819900"/>
            <a:ext cx="5334000" cy="1097280"/>
          </a:xfrm>
          <a:prstGeom prst="roundRect">
            <a:avLst>
              <a:gd name="adj" fmla="val 8681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2199620" y="7056120"/>
            <a:ext cx="522198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220.320 mód/año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12199620" y="7399020"/>
            <a:ext cx="522198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de 35.135 mód/año sobre el diseño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1906250" y="8107680"/>
            <a:ext cx="5334000" cy="1097280"/>
          </a:xfrm>
          <a:prstGeom prst="roundRect">
            <a:avLst>
              <a:gd name="adj" fmla="val 8681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2199620" y="8343900"/>
            <a:ext cx="522198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Curado, segundo candidato</a:t>
            </a:r>
            <a:endParaRPr lang="en-US" sz="1950" dirty="0"/>
          </a:p>
        </p:txBody>
      </p:sp>
      <p:sp>
        <p:nvSpPr>
          <p:cNvPr id="48" name="Text 46"/>
          <p:cNvSpPr/>
          <p:nvPr/>
        </p:nvSpPr>
        <p:spPr>
          <a:xfrm>
            <a:off x="12199620" y="8686800"/>
            <a:ext cx="522198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180 posiciones treparía al 93,4 %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047750" y="9471660"/>
            <a:ext cx="7875413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9 · Fase 3 · Consumos específicos · informe Fase 3, sección 5 · Tabla 5.1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6585049" y="9471660"/>
            <a:ext cx="7314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96" kern="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BALANCE DE MASA · POR OPERACIÓN Y CIERRE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15390"/>
            <a:ext cx="17811750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011"/>
              </a:lnSpc>
              <a:buNone/>
            </a:pPr>
            <a:r>
              <a:rPr lang="en-US" sz="45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24,45 a</a:t>
            </a:r>
            <a:pPr algn="l" indent="0" marL="0">
              <a:lnSpc>
                <a:spcPct val="89011"/>
              </a:lnSpc>
              <a:buNone/>
            </a:pPr>
            <a:r>
              <a:rPr lang="en-US" sz="4500" b="1" i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847,25 kg/h</a:t>
            </a:r>
            <a:pPr algn="l" indent="0" marL="0">
              <a:lnSpc>
                <a:spcPct val="89011"/>
              </a:lnSpc>
              <a:buNone/>
            </a:pPr>
            <a:r>
              <a:rPr lang="en-US" sz="45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módulo, con cierre al 100,00 %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137410"/>
            <a:ext cx="16192500" cy="19050"/>
          </a:xfrm>
          <a:prstGeom prst="rect">
            <a:avLst/>
          </a:prstGeom>
          <a:solidFill>
            <a:srgbClr val="DCDBD7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8484870"/>
            <a:ext cx="10477500" cy="15240"/>
          </a:xfrm>
          <a:prstGeom prst="rect">
            <a:avLst/>
          </a:prstGeom>
          <a:solidFill>
            <a:srgbClr val="12283A"/>
          </a:solidFill>
          <a:ln/>
        </p:spPr>
      </p:sp>
      <p:sp>
        <p:nvSpPr>
          <p:cNvPr id="6" name="Text 4"/>
          <p:cNvSpPr/>
          <p:nvPr/>
        </p:nvSpPr>
        <p:spPr>
          <a:xfrm>
            <a:off x="977813" y="8031480"/>
            <a:ext cx="153862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24,21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47750" y="8370570"/>
            <a:ext cx="1398746" cy="114300"/>
          </a:xfrm>
          <a:prstGeom prst="rect">
            <a:avLst/>
          </a:prstGeom>
          <a:solidFill>
            <a:srgbClr val="3F7CA8"/>
          </a:solidFill>
          <a:ln/>
        </p:spPr>
      </p:sp>
      <p:sp>
        <p:nvSpPr>
          <p:cNvPr id="8" name="Text 6"/>
          <p:cNvSpPr/>
          <p:nvPr/>
        </p:nvSpPr>
        <p:spPr>
          <a:xfrm>
            <a:off x="2490853" y="7993380"/>
            <a:ext cx="153875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33,28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560796" y="8332470"/>
            <a:ext cx="1398865" cy="152400"/>
          </a:xfrm>
          <a:prstGeom prst="rect">
            <a:avLst/>
          </a:prstGeom>
          <a:solidFill>
            <a:srgbClr val="3F7CA8"/>
          </a:solidFill>
          <a:ln/>
        </p:spPr>
      </p:sp>
      <p:sp>
        <p:nvSpPr>
          <p:cNvPr id="10" name="Text 8"/>
          <p:cNvSpPr/>
          <p:nvPr/>
        </p:nvSpPr>
        <p:spPr>
          <a:xfrm>
            <a:off x="4004024" y="4907280"/>
            <a:ext cx="153862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759,9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73962" y="5246370"/>
            <a:ext cx="1398746" cy="3238500"/>
          </a:xfrm>
          <a:prstGeom prst="rect">
            <a:avLst/>
          </a:prstGeom>
          <a:solidFill>
            <a:srgbClr val="1F7A5C"/>
          </a:solidFill>
          <a:ln/>
        </p:spPr>
      </p:sp>
      <p:sp>
        <p:nvSpPr>
          <p:cNvPr id="12" name="Text 10"/>
          <p:cNvSpPr/>
          <p:nvPr/>
        </p:nvSpPr>
        <p:spPr>
          <a:xfrm>
            <a:off x="5517065" y="4907280"/>
            <a:ext cx="153875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759,9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587008" y="5246370"/>
            <a:ext cx="1398865" cy="3238500"/>
          </a:xfrm>
          <a:prstGeom prst="rect">
            <a:avLst/>
          </a:prstGeom>
          <a:solidFill>
            <a:srgbClr val="12283A"/>
          </a:solidFill>
          <a:ln/>
        </p:spPr>
      </p:sp>
      <p:sp>
        <p:nvSpPr>
          <p:cNvPr id="14" name="Text 12"/>
          <p:cNvSpPr/>
          <p:nvPr/>
        </p:nvSpPr>
        <p:spPr>
          <a:xfrm>
            <a:off x="7030236" y="4935855"/>
            <a:ext cx="153862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753,3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100173" y="5274945"/>
            <a:ext cx="1398746" cy="3209925"/>
          </a:xfrm>
          <a:prstGeom prst="rect">
            <a:avLst/>
          </a:prstGeom>
          <a:solidFill>
            <a:srgbClr val="12283A"/>
          </a:solidFill>
          <a:ln/>
        </p:spPr>
      </p:sp>
      <p:sp>
        <p:nvSpPr>
          <p:cNvPr id="16" name="Text 14"/>
          <p:cNvSpPr/>
          <p:nvPr/>
        </p:nvSpPr>
        <p:spPr>
          <a:xfrm>
            <a:off x="8543276" y="4535805"/>
            <a:ext cx="153875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847,3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613220" y="4874895"/>
            <a:ext cx="1398865" cy="3609975"/>
          </a:xfrm>
          <a:prstGeom prst="rect">
            <a:avLst/>
          </a:prstGeom>
          <a:solidFill>
            <a:srgbClr val="12283A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6442" y="4402455"/>
            <a:ext cx="153875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877,5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126385" y="4741545"/>
            <a:ext cx="1398865" cy="3743325"/>
          </a:xfrm>
          <a:prstGeom prst="rect">
            <a:avLst/>
          </a:prstGeom>
          <a:solidFill>
            <a:srgbClr val="3F7CA8"/>
          </a:solidFill>
          <a:ln/>
        </p:spPr>
      </p:sp>
      <p:sp>
        <p:nvSpPr>
          <p:cNvPr id="20" name="Text 18"/>
          <p:cNvSpPr/>
          <p:nvPr/>
        </p:nvSpPr>
        <p:spPr>
          <a:xfrm>
            <a:off x="977813" y="8595360"/>
            <a:ext cx="153862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9189"/>
              </a:lnSpc>
              <a:buNone/>
            </a:pPr>
            <a:r>
              <a:rPr lang="en-US" sz="18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Recep. EL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490853" y="8595360"/>
            <a:ext cx="1538752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9189"/>
              </a:lnSpc>
              <a:buNone/>
            </a:pPr>
            <a:r>
              <a:rPr lang="en-US" sz="18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Soldadura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004024" y="8595360"/>
            <a:ext cx="153862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9189"/>
              </a:lnSpc>
              <a:buNone/>
            </a:pPr>
            <a:r>
              <a:rPr lang="en-US" sz="18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Apilado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17065" y="8595360"/>
            <a:ext cx="1538752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9189"/>
              </a:lnSpc>
              <a:buNone/>
            </a:pPr>
            <a:r>
              <a:rPr lang="en-US" sz="18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Laminado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30236" y="8595360"/>
            <a:ext cx="153862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9189"/>
              </a:lnSpc>
              <a:buNone/>
            </a:pPr>
            <a:r>
              <a:rPr lang="en-US" sz="18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543276" y="8595360"/>
            <a:ext cx="1538752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9189"/>
              </a:lnSpc>
              <a:buNone/>
            </a:pPr>
            <a:r>
              <a:rPr lang="en-US" sz="18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a STC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056442" y="8595360"/>
            <a:ext cx="1538752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9189"/>
              </a:lnSpc>
              <a:buNone/>
            </a:pPr>
            <a:r>
              <a:rPr lang="en-US" sz="18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Empaque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47750" y="8961120"/>
            <a:ext cx="115252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por operación, kg/h · Tabla 6.2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1906250" y="2423160"/>
            <a:ext cx="5334000" cy="3021330"/>
          </a:xfrm>
          <a:prstGeom prst="roundRect">
            <a:avLst>
              <a:gd name="adj" fmla="val 3153"/>
            </a:avLst>
          </a:prstGeom>
          <a:solidFill>
            <a:srgbClr val="12283A"/>
          </a:solidFill>
          <a:ln/>
        </p:spPr>
      </p:sp>
      <p:sp>
        <p:nvSpPr>
          <p:cNvPr id="29" name="Text 27"/>
          <p:cNvSpPr/>
          <p:nvPr/>
        </p:nvSpPr>
        <p:spPr>
          <a:xfrm>
            <a:off x="12287250" y="2747010"/>
            <a:ext cx="50292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MATERIA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287250" y="3143250"/>
            <a:ext cx="5029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888,75 kg/h entran · 888,75 kg/h salen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2287250" y="3600450"/>
            <a:ext cx="5029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967"/>
              </a:lnSpc>
              <a:buNone/>
            </a:pPr>
            <a:r>
              <a:rPr lang="en-US" sz="9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100,00 %</a:t>
            </a:r>
            <a:endParaRPr lang="en-US" sz="9000" dirty="0"/>
          </a:p>
        </p:txBody>
      </p:sp>
      <p:sp>
        <p:nvSpPr>
          <p:cNvPr id="32" name="Text 30"/>
          <p:cNvSpPr/>
          <p:nvPr/>
        </p:nvSpPr>
        <p:spPr>
          <a:xfrm>
            <a:off x="12287250" y="4838700"/>
            <a:ext cx="50292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de cierre 0,00 kg/h · 5.439,17 t/año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1906250" y="5634990"/>
            <a:ext cx="5334000" cy="1097280"/>
          </a:xfrm>
          <a:prstGeom prst="roundRect">
            <a:avLst>
              <a:gd name="adj" fmla="val 8681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199620" y="5871210"/>
            <a:ext cx="522198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salto está en el apilado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2199620" y="6214110"/>
            <a:ext cx="522198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entran 729,86 kg/h de vidrio, EVA y backsheet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1906250" y="6922770"/>
            <a:ext cx="5334000" cy="2320290"/>
          </a:xfrm>
          <a:prstGeom prst="roundRect">
            <a:avLst>
              <a:gd name="adj" fmla="val 4105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199620" y="7158990"/>
            <a:ext cx="522198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 11,24 kg/h · 69 t/año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2199620" y="7501890"/>
            <a:ext cx="4889678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1,3 % sobre la masa de producto; el laminado no pierde masa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047750" y="9471660"/>
            <a:ext cx="895760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9 · Fase 3 · Consumos específicos · informe Fase 3, sección 6 · Tablas 6.1, 6.2 y 6.3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6585049" y="9471660"/>
            <a:ext cx="7314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96" kern="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BALANCE ENERGÉTICO · ELÉCTRICO Y TÉRMICO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15390"/>
            <a:ext cx="17811750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011"/>
              </a:lnSpc>
              <a:buNone/>
            </a:pPr>
            <a:r>
              <a:rPr lang="en-US" sz="45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planta consume</a:t>
            </a:r>
            <a:pPr algn="l" indent="0" marL="0">
              <a:lnSpc>
                <a:spcPct val="89011"/>
              </a:lnSpc>
              <a:buNone/>
            </a:pPr>
            <a:r>
              <a:rPr lang="en-US" sz="4500" b="1" i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5.125,08 kWh/día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137410"/>
            <a:ext cx="16192500" cy="19050"/>
          </a:xfrm>
          <a:prstGeom prst="rect">
            <a:avLst/>
          </a:prstGeom>
          <a:solidFill>
            <a:srgbClr val="DCDBD7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2423160"/>
            <a:ext cx="205542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kWh/día por equipo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144917" y="2423160"/>
            <a:ext cx="100310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proceso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00419" y="2423160"/>
            <a:ext cx="1141333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F7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auxiliares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47750" y="3220403"/>
            <a:ext cx="31432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Laminadora C-101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4057650" y="3229928"/>
            <a:ext cx="6096000" cy="285750"/>
          </a:xfrm>
          <a:prstGeom prst="roundRect">
            <a:avLst>
              <a:gd name="adj" fmla="val 10000"/>
            </a:avLst>
          </a:prstGeom>
          <a:solidFill>
            <a:srgbClr val="12283A"/>
          </a:solidFill>
          <a:ln/>
        </p:spPr>
      </p:sp>
      <p:sp>
        <p:nvSpPr>
          <p:cNvPr id="10" name="Text 8"/>
          <p:cNvSpPr/>
          <p:nvPr/>
        </p:nvSpPr>
        <p:spPr>
          <a:xfrm>
            <a:off x="10229850" y="3220403"/>
            <a:ext cx="1219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1.453,5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47750" y="4040505"/>
            <a:ext cx="31432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HVAC nave y lay-up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4057650" y="4050030"/>
            <a:ext cx="3620929" cy="285750"/>
          </a:xfrm>
          <a:prstGeom prst="roundRect">
            <a:avLst>
              <a:gd name="adj" fmla="val 10000"/>
            </a:avLst>
          </a:prstGeom>
          <a:solidFill>
            <a:srgbClr val="3F7CA8"/>
          </a:solidFill>
          <a:ln/>
        </p:spPr>
      </p:sp>
      <p:sp>
        <p:nvSpPr>
          <p:cNvPr id="13" name="Text 11"/>
          <p:cNvSpPr/>
          <p:nvPr/>
        </p:nvSpPr>
        <p:spPr>
          <a:xfrm>
            <a:off x="10229850" y="4040505"/>
            <a:ext cx="1219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864,0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47750" y="4860608"/>
            <a:ext cx="31432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Stringer E-102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4057650" y="4870133"/>
            <a:ext cx="2633424" cy="285750"/>
          </a:xfrm>
          <a:prstGeom prst="roundRect">
            <a:avLst>
              <a:gd name="adj" fmla="val 10000"/>
            </a:avLst>
          </a:prstGeom>
          <a:solidFill>
            <a:srgbClr val="12283A"/>
          </a:solidFill>
          <a:ln/>
        </p:spPr>
      </p:sp>
      <p:sp>
        <p:nvSpPr>
          <p:cNvPr id="16" name="Text 14"/>
          <p:cNvSpPr/>
          <p:nvPr/>
        </p:nvSpPr>
        <p:spPr>
          <a:xfrm>
            <a:off x="10229850" y="4860608"/>
            <a:ext cx="1219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627,3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047750" y="5680710"/>
            <a:ext cx="31432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Compresor K-101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4057650" y="5690235"/>
            <a:ext cx="2115264" cy="285750"/>
          </a:xfrm>
          <a:prstGeom prst="roundRect">
            <a:avLst>
              <a:gd name="adj" fmla="val 10000"/>
            </a:avLst>
          </a:prstGeom>
          <a:solidFill>
            <a:srgbClr val="3F7CA8"/>
          </a:solidFill>
          <a:ln/>
        </p:spPr>
      </p:sp>
      <p:sp>
        <p:nvSpPr>
          <p:cNvPr id="19" name="Text 17"/>
          <p:cNvSpPr/>
          <p:nvPr/>
        </p:nvSpPr>
        <p:spPr>
          <a:xfrm>
            <a:off x="10229850" y="5680710"/>
            <a:ext cx="1219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504,0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047750" y="6500813"/>
            <a:ext cx="31432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Chiller E-205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4057650" y="6510338"/>
            <a:ext cx="1810464" cy="285750"/>
          </a:xfrm>
          <a:prstGeom prst="roundRect">
            <a:avLst>
              <a:gd name="adj" fmla="val 10000"/>
            </a:avLst>
          </a:prstGeom>
          <a:solidFill>
            <a:srgbClr val="3F7CA8"/>
          </a:solidFill>
          <a:ln/>
        </p:spPr>
      </p:sp>
      <p:sp>
        <p:nvSpPr>
          <p:cNvPr id="22" name="Text 20"/>
          <p:cNvSpPr/>
          <p:nvPr/>
        </p:nvSpPr>
        <p:spPr>
          <a:xfrm>
            <a:off x="10229850" y="6500813"/>
            <a:ext cx="1219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432,0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047750" y="7320915"/>
            <a:ext cx="31432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Iluminación y oficinas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4057650" y="7330440"/>
            <a:ext cx="1761649" cy="285750"/>
          </a:xfrm>
          <a:prstGeom prst="roundRect">
            <a:avLst>
              <a:gd name="adj" fmla="val 10000"/>
            </a:avLst>
          </a:prstGeom>
          <a:solidFill>
            <a:srgbClr val="3F7CA8"/>
          </a:solidFill>
          <a:ln/>
        </p:spPr>
      </p:sp>
      <p:sp>
        <p:nvSpPr>
          <p:cNvPr id="25" name="Text 23"/>
          <p:cNvSpPr/>
          <p:nvPr/>
        </p:nvSpPr>
        <p:spPr>
          <a:xfrm>
            <a:off x="10229850" y="7320915"/>
            <a:ext cx="1219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420,0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047750" y="8141018"/>
            <a:ext cx="31432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 interno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4057650" y="8150543"/>
            <a:ext cx="768072" cy="285750"/>
          </a:xfrm>
          <a:prstGeom prst="roundRect">
            <a:avLst>
              <a:gd name="adj" fmla="val 10000"/>
            </a:avLst>
          </a:prstGeom>
          <a:solidFill>
            <a:srgbClr val="12283A"/>
          </a:solidFill>
          <a:ln/>
        </p:spPr>
      </p:sp>
      <p:sp>
        <p:nvSpPr>
          <p:cNvPr id="28" name="Text 26"/>
          <p:cNvSpPr/>
          <p:nvPr/>
        </p:nvSpPr>
        <p:spPr>
          <a:xfrm>
            <a:off x="10229850" y="8141018"/>
            <a:ext cx="1219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183,6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047750" y="8961120"/>
            <a:ext cx="1144143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 de equipos, menos de 125 kWh/día cada uno · proceso 297 kW y 2.747,88 kWh/día; planta 479,5 kW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1906250" y="2423160"/>
            <a:ext cx="5334000" cy="5250180"/>
          </a:xfrm>
          <a:prstGeom prst="roundRect">
            <a:avLst>
              <a:gd name="adj" fmla="val 1814"/>
            </a:avLst>
          </a:prstGeom>
          <a:solidFill>
            <a:srgbClr val="12283A"/>
          </a:solidFill>
          <a:ln/>
        </p:spPr>
      </p:sp>
      <p:sp>
        <p:nvSpPr>
          <p:cNvPr id="31" name="Text 29"/>
          <p:cNvSpPr/>
          <p:nvPr/>
        </p:nvSpPr>
        <p:spPr>
          <a:xfrm>
            <a:off x="12287250" y="2747010"/>
            <a:ext cx="50292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TÉRMICO DE C-101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287250" y="3143250"/>
            <a:ext cx="4709160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útil = 28 kg × 0,9 kJ/kg·°C × 120 °C ÷ 3.600 = 0,84 kWh/mód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287250" y="5734050"/>
            <a:ext cx="5029200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658"/>
              </a:lnSpc>
              <a:buNone/>
            </a:pPr>
            <a:r>
              <a:rPr lang="en-US" sz="9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35,7 %</a:t>
            </a:r>
            <a:endParaRPr lang="en-US" sz="9750" dirty="0"/>
          </a:p>
        </p:txBody>
      </p:sp>
      <p:sp>
        <p:nvSpPr>
          <p:cNvPr id="34" name="Text 32"/>
          <p:cNvSpPr/>
          <p:nvPr/>
        </p:nvSpPr>
        <p:spPr>
          <a:xfrm>
            <a:off x="12287250" y="7067550"/>
            <a:ext cx="50292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25,42 kW útiles ÷ 71,25 kW eléctricos medios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1906250" y="7863840"/>
            <a:ext cx="5334000" cy="1379220"/>
          </a:xfrm>
          <a:prstGeom prst="roundRect">
            <a:avLst>
              <a:gd name="adj" fmla="val 6906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199620" y="8100060"/>
            <a:ext cx="522198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tercios no calientan el producto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12199620" y="8442960"/>
            <a:ext cx="4889678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van en mantener las placas calientes y en pérdidas de cámara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47750" y="9471660"/>
            <a:ext cx="1022040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9 · Fase 3 · Consumos específicos · informe Fase 3, secciones 7.1 y 7.2 · Tablas 7.1 y 7.2 · [2][3]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6585049" y="9471660"/>
            <a:ext cx="7314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96" kern="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DEMANDA ELÉCTRICA Y CONSUMOS ESPECÍFICOS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15390"/>
            <a:ext cx="17811750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011"/>
              </a:lnSpc>
              <a:buNone/>
            </a:pPr>
            <a:r>
              <a:rPr lang="en-US" sz="45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transformador de</a:t>
            </a:r>
            <a:pPr algn="l" indent="0" marL="0">
              <a:lnSpc>
                <a:spcPct val="89011"/>
              </a:lnSpc>
              <a:buNone/>
            </a:pPr>
            <a:r>
              <a:rPr lang="en-US" sz="4500" b="1" i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kVA</a:t>
            </a:r>
            <a:pPr algn="l" indent="0" marL="0">
              <a:lnSpc>
                <a:spcPct val="89011"/>
              </a:lnSpc>
              <a:buNone/>
            </a:pPr>
            <a:r>
              <a:rPr lang="en-US" sz="45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296,52 kWh por tonelada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137410"/>
            <a:ext cx="16192500" cy="19050"/>
          </a:xfrm>
          <a:prstGeom prst="rect">
            <a:avLst/>
          </a:prstGeom>
          <a:solidFill>
            <a:srgbClr val="DCDBD7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2461260"/>
            <a:ext cx="2606040" cy="1120140"/>
          </a:xfrm>
          <a:prstGeom prst="roundRect">
            <a:avLst>
              <a:gd name="adj" fmla="val 8503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45870" y="2659380"/>
            <a:ext cx="24307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instalada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45870" y="2941320"/>
            <a:ext cx="243078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479,5 kW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3768090" y="2461260"/>
            <a:ext cx="2606040" cy="1120140"/>
          </a:xfrm>
          <a:prstGeom prst="roundRect">
            <a:avLst>
              <a:gd name="adj" fmla="val 8503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66210" y="2659380"/>
            <a:ext cx="24307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0,75 simult.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966210" y="2941320"/>
            <a:ext cx="243078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359,63 kW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6488430" y="2461260"/>
            <a:ext cx="2606040" cy="1120140"/>
          </a:xfrm>
          <a:prstGeom prst="roundRect">
            <a:avLst>
              <a:gd name="adj" fmla="val 8503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86550" y="2659380"/>
            <a:ext cx="24307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+ 10 % margen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86550" y="2941320"/>
            <a:ext cx="243078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395,59 kW</a:t>
            </a:r>
            <a:endParaRPr lang="en-US" sz="2850" dirty="0"/>
          </a:p>
        </p:txBody>
      </p:sp>
      <p:sp>
        <p:nvSpPr>
          <p:cNvPr id="14" name="Shape 12"/>
          <p:cNvSpPr/>
          <p:nvPr/>
        </p:nvSpPr>
        <p:spPr>
          <a:xfrm>
            <a:off x="9208770" y="2461260"/>
            <a:ext cx="2606040" cy="1120140"/>
          </a:xfrm>
          <a:prstGeom prst="roundRect">
            <a:avLst>
              <a:gd name="adj" fmla="val 8503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06890" y="2659380"/>
            <a:ext cx="24307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0,95 cos φ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406890" y="2941320"/>
            <a:ext cx="243078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416,41 kVA</a:t>
            </a:r>
            <a:endParaRPr lang="en-US" sz="2850" dirty="0"/>
          </a:p>
        </p:txBody>
      </p:sp>
      <p:sp>
        <p:nvSpPr>
          <p:cNvPr id="17" name="Shape 15"/>
          <p:cNvSpPr/>
          <p:nvPr/>
        </p:nvSpPr>
        <p:spPr>
          <a:xfrm>
            <a:off x="11929110" y="2461260"/>
            <a:ext cx="2606040" cy="1120140"/>
          </a:xfrm>
          <a:prstGeom prst="roundRect">
            <a:avLst>
              <a:gd name="adj" fmla="val 8503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127231" y="2659380"/>
            <a:ext cx="24307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+ 20 % reserva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127231" y="2941320"/>
            <a:ext cx="243078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499,69 kVA</a:t>
            </a:r>
            <a:endParaRPr lang="en-US" sz="2850" dirty="0"/>
          </a:p>
        </p:txBody>
      </p:sp>
      <p:sp>
        <p:nvSpPr>
          <p:cNvPr id="20" name="Shape 18"/>
          <p:cNvSpPr/>
          <p:nvPr/>
        </p:nvSpPr>
        <p:spPr>
          <a:xfrm>
            <a:off x="14649450" y="2461260"/>
            <a:ext cx="2590800" cy="1120140"/>
          </a:xfrm>
          <a:prstGeom prst="roundRect">
            <a:avLst>
              <a:gd name="adj" fmla="val 8503"/>
            </a:avLst>
          </a:prstGeom>
          <a:solidFill>
            <a:srgbClr val="12283A"/>
          </a:solidFill>
          <a:ln/>
        </p:spPr>
      </p:sp>
      <p:sp>
        <p:nvSpPr>
          <p:cNvPr id="21" name="Text 19"/>
          <p:cNvSpPr/>
          <p:nvPr/>
        </p:nvSpPr>
        <p:spPr>
          <a:xfrm>
            <a:off x="14839950" y="2651760"/>
            <a:ext cx="24307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TRANSFORMADOR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839950" y="2933700"/>
            <a:ext cx="243078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kVA</a:t>
            </a:r>
            <a:endParaRPr lang="en-US" sz="2850" dirty="0"/>
          </a:p>
        </p:txBody>
      </p:sp>
      <p:sp>
        <p:nvSpPr>
          <p:cNvPr id="23" name="Shape 21"/>
          <p:cNvSpPr/>
          <p:nvPr/>
        </p:nvSpPr>
        <p:spPr>
          <a:xfrm>
            <a:off x="1047750" y="3848100"/>
            <a:ext cx="5250180" cy="5394960"/>
          </a:xfrm>
          <a:prstGeom prst="roundRect">
            <a:avLst>
              <a:gd name="adj" fmla="val 1814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9220" y="4179570"/>
            <a:ext cx="504596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79220" y="7467600"/>
            <a:ext cx="504596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31"/>
              </a:lnSpc>
              <a:buNone/>
            </a:pPr>
            <a:r>
              <a:rPr lang="en-US" sz="63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1.013</a:t>
            </a:r>
            <a:endParaRPr lang="en-US" sz="6300" dirty="0"/>
          </a:p>
        </p:txBody>
      </p:sp>
      <p:sp>
        <p:nvSpPr>
          <p:cNvPr id="26" name="Text 24"/>
          <p:cNvSpPr/>
          <p:nvPr/>
        </p:nvSpPr>
        <p:spPr>
          <a:xfrm>
            <a:off x="1379220" y="8267700"/>
            <a:ext cx="504596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kg/t · 5.254 t/año · 52,5 t/MWp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379220" y="8629650"/>
            <a:ext cx="504596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vidrio y aluminio, 84 % de la masa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526530" y="3848100"/>
            <a:ext cx="5250180" cy="5394960"/>
          </a:xfrm>
          <a:prstGeom prst="roundRect">
            <a:avLst>
              <a:gd name="adj" fmla="val 1814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4179570"/>
            <a:ext cx="504596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858000" y="7185660"/>
            <a:ext cx="504596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31"/>
              </a:lnSpc>
              <a:buNone/>
            </a:pPr>
            <a:r>
              <a:rPr lang="en-US" sz="63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2.340</a:t>
            </a:r>
            <a:endParaRPr lang="en-US" sz="6300" dirty="0"/>
          </a:p>
        </p:txBody>
      </p:sp>
      <p:sp>
        <p:nvSpPr>
          <p:cNvPr id="31" name="Text 29"/>
          <p:cNvSpPr/>
          <p:nvPr/>
        </p:nvSpPr>
        <p:spPr>
          <a:xfrm>
            <a:off x="6858000" y="7985760"/>
            <a:ext cx="504596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m³/año · 0,45 m³/t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6858000" y="8347710"/>
            <a:ext cx="4724857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agua de proceso: 105 personas × 60 L/día + 1,5 m³/día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2005310" y="3848100"/>
            <a:ext cx="5234940" cy="5394960"/>
          </a:xfrm>
          <a:prstGeom prst="roundRect">
            <a:avLst>
              <a:gd name="adj" fmla="val 1820"/>
            </a:avLst>
          </a:prstGeom>
          <a:solidFill>
            <a:srgbClr val="12283A"/>
          </a:solidFill>
          <a:ln/>
        </p:spPr>
      </p:sp>
      <p:sp>
        <p:nvSpPr>
          <p:cNvPr id="34" name="Text 32"/>
          <p:cNvSpPr/>
          <p:nvPr/>
        </p:nvSpPr>
        <p:spPr>
          <a:xfrm>
            <a:off x="12329160" y="4171950"/>
            <a:ext cx="504596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2329160" y="7475220"/>
            <a:ext cx="504596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31"/>
              </a:lnSpc>
              <a:buNone/>
            </a:pPr>
            <a:r>
              <a:rPr lang="en-US" sz="6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296,52</a:t>
            </a:r>
            <a:endParaRPr lang="en-US" sz="6300" dirty="0"/>
          </a:p>
        </p:txBody>
      </p:sp>
      <p:sp>
        <p:nvSpPr>
          <p:cNvPr id="36" name="Text 34"/>
          <p:cNvSpPr/>
          <p:nvPr/>
        </p:nvSpPr>
        <p:spPr>
          <a:xfrm>
            <a:off x="12329160" y="8275320"/>
            <a:ext cx="504596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kWh/t · 1.537,52 MWh/año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12329160" y="8637270"/>
            <a:ext cx="504596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8,30 kWh/mód · 15,38 MWh/MWp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47750" y="9471660"/>
            <a:ext cx="928895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9 · Fase 3 · Consumos específicos · informe Fase 3, secciones 7.3 y 8 · Tablas 7.3 y 8.1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6585049" y="9471660"/>
            <a:ext cx="7314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96" kern="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EFLUENTES, RESIDUOS Y EMISIONES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15390"/>
            <a:ext cx="17811750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011"/>
              </a:lnSpc>
              <a:buNone/>
            </a:pPr>
            <a:r>
              <a:rPr lang="en-US" sz="45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impacto principal son</a:t>
            </a:r>
            <a:pPr algn="l" indent="0" marL="0">
              <a:lnSpc>
                <a:spcPct val="89011"/>
              </a:lnSpc>
              <a:buNone/>
            </a:pPr>
            <a:r>
              <a:rPr lang="en-US" sz="4500" b="1" i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538 t CO₂/año</a:t>
            </a:r>
            <a:pPr algn="l" indent="0" marL="0">
              <a:lnSpc>
                <a:spcPct val="89011"/>
              </a:lnSpc>
              <a:buNone/>
            </a:pPr>
            <a:r>
              <a:rPr lang="en-US" sz="45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indirectas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137410"/>
            <a:ext cx="16192500" cy="19050"/>
          </a:xfrm>
          <a:prstGeom prst="rect">
            <a:avLst/>
          </a:prstGeom>
          <a:solidFill>
            <a:srgbClr val="DCDBD7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2499360"/>
            <a:ext cx="4663440" cy="6705600"/>
          </a:xfrm>
          <a:prstGeom prst="roundRect">
            <a:avLst>
              <a:gd name="adj" fmla="val 2042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9220" y="2830830"/>
            <a:ext cx="44005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EFLUENTE LÍQUIDO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9220" y="3341370"/>
            <a:ext cx="44005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31"/>
              </a:lnSpc>
              <a:buNone/>
            </a:pPr>
            <a:r>
              <a:rPr lang="en-US" sz="63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2.106</a:t>
            </a:r>
            <a:endParaRPr lang="en-US" sz="6300" dirty="0"/>
          </a:p>
        </p:txBody>
      </p:sp>
      <p:sp>
        <p:nvSpPr>
          <p:cNvPr id="8" name="Text 6"/>
          <p:cNvSpPr/>
          <p:nvPr/>
        </p:nvSpPr>
        <p:spPr>
          <a:xfrm>
            <a:off x="1379220" y="4141470"/>
            <a:ext cx="44005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m³/año · cloacal asimilable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379220" y="7589520"/>
            <a:ext cx="4000500" cy="9525"/>
          </a:xfrm>
          <a:prstGeom prst="rect">
            <a:avLst/>
          </a:prstGeom>
          <a:solidFill>
            <a:srgbClr val="DCDBD7"/>
          </a:solidFill>
          <a:ln/>
        </p:spPr>
      </p:sp>
      <p:sp>
        <p:nvSpPr>
          <p:cNvPr id="10" name="Text 8"/>
          <p:cNvSpPr/>
          <p:nvPr/>
        </p:nvSpPr>
        <p:spPr>
          <a:xfrm>
            <a:off x="1379220" y="7768590"/>
            <a:ext cx="219988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agua consumida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4895612" y="7768590"/>
            <a:ext cx="56030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90 %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79220" y="8168640"/>
            <a:ext cx="14208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tonelada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4464606" y="8168640"/>
            <a:ext cx="99131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0,41 m³/t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379220" y="8568690"/>
            <a:ext cx="55923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DQO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3338751" y="8568690"/>
            <a:ext cx="224506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mg/L · 0,20 kg/t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5977890" y="2499360"/>
            <a:ext cx="6347460" cy="6705600"/>
          </a:xfrm>
          <a:prstGeom prst="roundRect">
            <a:avLst>
              <a:gd name="adj" fmla="val 1501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830830"/>
            <a:ext cx="625297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RESIDUOS SÓLIDOS · T/AÑO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3511868"/>
            <a:ext cx="21877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Embalaje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8355330" y="3511868"/>
            <a:ext cx="9334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422130" y="3511868"/>
            <a:ext cx="28289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con el producto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09360" y="4348163"/>
            <a:ext cx="206502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Rebaba de EVA y backsheet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8355330" y="4348163"/>
            <a:ext cx="9334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40,5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422130" y="4348163"/>
            <a:ext cx="264890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 especial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309360" y="5489257"/>
            <a:ext cx="21877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Vidrio roto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8355330" y="5489257"/>
            <a:ext cx="9334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19,3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9422130" y="5489257"/>
            <a:ext cx="28289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reciclable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309360" y="6325553"/>
            <a:ext cx="206502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Recorte de marco y silicona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8355330" y="6325553"/>
            <a:ext cx="9334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6,3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9422130" y="6325553"/>
            <a:ext cx="264890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reciclable; silicona especial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309360" y="7466648"/>
            <a:ext cx="21877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Recorte de ribbon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8355330" y="7466648"/>
            <a:ext cx="9334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9422130" y="7466648"/>
            <a:ext cx="28289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cobre reciclable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309360" y="8302943"/>
            <a:ext cx="21877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Celdas rotas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8355330" y="8302943"/>
            <a:ext cx="9334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9422130" y="8302943"/>
            <a:ext cx="28289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autorizado (plata)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2592050" y="2499360"/>
            <a:ext cx="4648200" cy="6705600"/>
          </a:xfrm>
          <a:prstGeom prst="roundRect">
            <a:avLst>
              <a:gd name="adj" fmla="val 2049"/>
            </a:avLst>
          </a:prstGeom>
          <a:solidFill>
            <a:srgbClr val="12283A"/>
          </a:solidFill>
          <a:ln/>
        </p:spPr>
      </p:sp>
      <p:sp>
        <p:nvSpPr>
          <p:cNvPr id="37" name="Text 35"/>
          <p:cNvSpPr/>
          <p:nvPr/>
        </p:nvSpPr>
        <p:spPr>
          <a:xfrm>
            <a:off x="12915900" y="2823210"/>
            <a:ext cx="44005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EMISIONES INDIRECTAS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2915900" y="3295650"/>
            <a:ext cx="44005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de red 0,35 tCO₂/MWh [10]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2915900" y="6591300"/>
            <a:ext cx="440055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192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538</a:t>
            </a:r>
            <a:endParaRPr lang="en-US" sz="7200" dirty="0"/>
          </a:p>
        </p:txBody>
      </p:sp>
      <p:sp>
        <p:nvSpPr>
          <p:cNvPr id="40" name="Text 38"/>
          <p:cNvSpPr/>
          <p:nvPr/>
        </p:nvSpPr>
        <p:spPr>
          <a:xfrm>
            <a:off x="12915900" y="7505700"/>
            <a:ext cx="44005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CO₂/año</a:t>
            </a:r>
            <a:endParaRPr lang="en-US" sz="2100" dirty="0"/>
          </a:p>
        </p:txBody>
      </p:sp>
      <p:sp>
        <p:nvSpPr>
          <p:cNvPr id="41" name="Shape 39"/>
          <p:cNvSpPr/>
          <p:nvPr/>
        </p:nvSpPr>
        <p:spPr>
          <a:xfrm>
            <a:off x="12915900" y="8016240"/>
            <a:ext cx="4000500" cy="9525"/>
          </a:xfrm>
          <a:prstGeom prst="rect">
            <a:avLst/>
          </a:prstGeom>
          <a:solidFill>
            <a:srgbClr val="1E3D55"/>
          </a:solidFill>
          <a:ln/>
        </p:spPr>
      </p:sp>
      <p:sp>
        <p:nvSpPr>
          <p:cNvPr id="42" name="Text 40"/>
          <p:cNvSpPr/>
          <p:nvPr/>
        </p:nvSpPr>
        <p:spPr>
          <a:xfrm>
            <a:off x="12915900" y="8195310"/>
            <a:ext cx="14208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tonelada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15879961" y="8195310"/>
            <a:ext cx="11126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103,8 kg/t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2915900" y="8576310"/>
            <a:ext cx="140542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potencia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15814001" y="8576310"/>
            <a:ext cx="11786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 t/MWp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1047750" y="9471660"/>
            <a:ext cx="7875413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9 · Fase 3 · Consumos específicos · informe Fase 3, sección 9 · Tabla 9.1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6585049" y="9471660"/>
            <a:ext cx="7314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96" kern="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INDICADORES ESPECÍFICOS DE LA PLANTA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15390"/>
            <a:ext cx="17811750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011"/>
              </a:lnSpc>
              <a:buNone/>
            </a:pPr>
            <a:r>
              <a:rPr lang="en-US" sz="45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energía específica es </a:t>
            </a:r>
            <a:pPr algn="l" indent="0" marL="0">
              <a:lnSpc>
                <a:spcPct val="89011"/>
              </a:lnSpc>
              <a:buNone/>
            </a:pPr>
            <a:r>
              <a:rPr lang="en-US" sz="4500" b="1" i="1" dirty="0">
                <a:solidFill>
                  <a:srgbClr val="D9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296,52 kWh/t · 15,38 MWh/MWp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137410"/>
            <a:ext cx="16192500" cy="19050"/>
          </a:xfrm>
          <a:prstGeom prst="rect">
            <a:avLst/>
          </a:prstGeom>
          <a:solidFill>
            <a:srgbClr val="DCDBD7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2461260"/>
            <a:ext cx="16192500" cy="5417820"/>
          </a:xfrm>
          <a:prstGeom prst="roundRect">
            <a:avLst>
              <a:gd name="adj" fmla="val 1406"/>
            </a:avLst>
          </a:prstGeom>
          <a:ln w="7620">
            <a:solidFill>
              <a:srgbClr val="DCDB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5370" y="2468880"/>
            <a:ext cx="16177260" cy="609600"/>
          </a:xfrm>
          <a:prstGeom prst="rect">
            <a:avLst/>
          </a:prstGeom>
          <a:solidFill>
            <a:srgbClr val="12283A"/>
          </a:solidFill>
          <a:ln/>
        </p:spPr>
      </p:sp>
      <p:sp>
        <p:nvSpPr>
          <p:cNvPr id="7" name="Text 5"/>
          <p:cNvSpPr/>
          <p:nvPr/>
        </p:nvSpPr>
        <p:spPr>
          <a:xfrm>
            <a:off x="1322070" y="2621280"/>
            <a:ext cx="658406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269480" y="2621280"/>
            <a:ext cx="20955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517380" y="2621280"/>
            <a:ext cx="13620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717531" y="2621280"/>
            <a:ext cx="20955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módulo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965431" y="2621280"/>
            <a:ext cx="44005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calcula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055370" y="3078480"/>
            <a:ext cx="16177260" cy="958572"/>
          </a:xfrm>
          <a:prstGeom prst="rect">
            <a:avLst/>
          </a:prstGeom>
          <a:solidFill>
            <a:srgbClr val="FDF3E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55370" y="3078480"/>
            <a:ext cx="16177260" cy="9525"/>
          </a:xfrm>
          <a:prstGeom prst="rect">
            <a:avLst/>
          </a:prstGeom>
          <a:solidFill>
            <a:srgbClr val="DCDBD7"/>
          </a:solidFill>
          <a:ln/>
        </p:spPr>
      </p:sp>
      <p:sp>
        <p:nvSpPr>
          <p:cNvPr id="14" name="Text 12"/>
          <p:cNvSpPr/>
          <p:nvPr/>
        </p:nvSpPr>
        <p:spPr>
          <a:xfrm>
            <a:off x="1322070" y="3386257"/>
            <a:ext cx="658406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 por tonelada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7269480" y="3329107"/>
            <a:ext cx="20955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9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296,52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517380" y="3386257"/>
            <a:ext cx="136207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kWh/t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0717531" y="3386257"/>
            <a:ext cx="209550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8,30 kWh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2965431" y="3386257"/>
            <a:ext cx="440055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1.537,52 MWh/año ÷ 5.185 t/año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055370" y="4037052"/>
            <a:ext cx="16177260" cy="9586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055370" y="4037052"/>
            <a:ext cx="16177260" cy="9525"/>
          </a:xfrm>
          <a:prstGeom prst="rect">
            <a:avLst/>
          </a:prstGeom>
          <a:solidFill>
            <a:srgbClr val="DCDBD7"/>
          </a:solidFill>
          <a:ln/>
        </p:spPr>
      </p:sp>
      <p:sp>
        <p:nvSpPr>
          <p:cNvPr id="21" name="Text 19"/>
          <p:cNvSpPr/>
          <p:nvPr/>
        </p:nvSpPr>
        <p:spPr>
          <a:xfrm>
            <a:off x="1322070" y="4344948"/>
            <a:ext cx="658406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 por tonelada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7269480" y="4287798"/>
            <a:ext cx="20955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517380" y="4344948"/>
            <a:ext cx="136207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m³/t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0717531" y="4344948"/>
            <a:ext cx="209550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12,6 L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2965431" y="4344948"/>
            <a:ext cx="440055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2.340 m³/año · sanitarios y reposición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1055370" y="4995743"/>
            <a:ext cx="16177260" cy="958572"/>
          </a:xfrm>
          <a:prstGeom prst="rect">
            <a:avLst/>
          </a:prstGeom>
          <a:solidFill>
            <a:srgbClr val="F5F5F3"/>
          </a:solidFill>
          <a:ln/>
        </p:spPr>
      </p:sp>
      <p:sp>
        <p:nvSpPr>
          <p:cNvPr id="27" name="Shape 25"/>
          <p:cNvSpPr/>
          <p:nvPr/>
        </p:nvSpPr>
        <p:spPr>
          <a:xfrm>
            <a:off x="1055370" y="4995743"/>
            <a:ext cx="16177260" cy="9525"/>
          </a:xfrm>
          <a:prstGeom prst="rect">
            <a:avLst/>
          </a:prstGeom>
          <a:solidFill>
            <a:srgbClr val="DCDBD7"/>
          </a:solidFill>
          <a:ln/>
        </p:spPr>
      </p:sp>
      <p:sp>
        <p:nvSpPr>
          <p:cNvPr id="28" name="Text 26"/>
          <p:cNvSpPr/>
          <p:nvPr/>
        </p:nvSpPr>
        <p:spPr>
          <a:xfrm>
            <a:off x="1322070" y="5303520"/>
            <a:ext cx="658406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Efluente por tonelada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7269480" y="5246370"/>
            <a:ext cx="20955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0,41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9517380" y="5303520"/>
            <a:ext cx="136207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m³/t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10717531" y="5303520"/>
            <a:ext cx="209550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11,4 L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12965431" y="5303520"/>
            <a:ext cx="440055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90 % del agua que entra</a:t>
            </a:r>
            <a:endParaRPr lang="en-US" sz="2250" dirty="0"/>
          </a:p>
        </p:txBody>
      </p:sp>
      <p:sp>
        <p:nvSpPr>
          <p:cNvPr id="33" name="Shape 31"/>
          <p:cNvSpPr/>
          <p:nvPr/>
        </p:nvSpPr>
        <p:spPr>
          <a:xfrm>
            <a:off x="1055370" y="5954316"/>
            <a:ext cx="16177260" cy="9585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055370" y="5954316"/>
            <a:ext cx="16177260" cy="9525"/>
          </a:xfrm>
          <a:prstGeom prst="rect">
            <a:avLst/>
          </a:prstGeom>
          <a:solidFill>
            <a:srgbClr val="DCDBD7"/>
          </a:solidFill>
          <a:ln/>
        </p:spPr>
      </p:sp>
      <p:sp>
        <p:nvSpPr>
          <p:cNvPr id="35" name="Text 33"/>
          <p:cNvSpPr/>
          <p:nvPr/>
        </p:nvSpPr>
        <p:spPr>
          <a:xfrm>
            <a:off x="1322070" y="6262092"/>
            <a:ext cx="658406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DQO por tonelada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7269480" y="6204942"/>
            <a:ext cx="20955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0,20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9517380" y="6262092"/>
            <a:ext cx="136207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kg/t</a:t>
            </a:r>
            <a:endParaRPr lang="en-US" sz="2250" dirty="0"/>
          </a:p>
        </p:txBody>
      </p:sp>
      <p:sp>
        <p:nvSpPr>
          <p:cNvPr id="38" name="Text 36"/>
          <p:cNvSpPr/>
          <p:nvPr/>
        </p:nvSpPr>
        <p:spPr>
          <a:xfrm>
            <a:off x="10717531" y="6262092"/>
            <a:ext cx="209550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 g</a:t>
            </a:r>
            <a:endParaRPr lang="en-US" sz="2250" dirty="0"/>
          </a:p>
        </p:txBody>
      </p:sp>
      <p:sp>
        <p:nvSpPr>
          <p:cNvPr id="39" name="Text 37"/>
          <p:cNvSpPr/>
          <p:nvPr/>
        </p:nvSpPr>
        <p:spPr>
          <a:xfrm>
            <a:off x="12965431" y="6262092"/>
            <a:ext cx="440055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mg/L × 2.106 m³/año</a:t>
            </a:r>
            <a:endParaRPr lang="en-US" sz="2250" dirty="0"/>
          </a:p>
        </p:txBody>
      </p:sp>
      <p:sp>
        <p:nvSpPr>
          <p:cNvPr id="40" name="Shape 38"/>
          <p:cNvSpPr/>
          <p:nvPr/>
        </p:nvSpPr>
        <p:spPr>
          <a:xfrm>
            <a:off x="1055370" y="6912888"/>
            <a:ext cx="16177260" cy="958572"/>
          </a:xfrm>
          <a:prstGeom prst="rect">
            <a:avLst/>
          </a:prstGeom>
          <a:solidFill>
            <a:srgbClr val="F5F5F3"/>
          </a:solidFill>
          <a:ln/>
        </p:spPr>
      </p:sp>
      <p:sp>
        <p:nvSpPr>
          <p:cNvPr id="41" name="Shape 39"/>
          <p:cNvSpPr/>
          <p:nvPr/>
        </p:nvSpPr>
        <p:spPr>
          <a:xfrm>
            <a:off x="1055370" y="6912888"/>
            <a:ext cx="16177260" cy="9525"/>
          </a:xfrm>
          <a:prstGeom prst="rect">
            <a:avLst/>
          </a:prstGeom>
          <a:solidFill>
            <a:srgbClr val="DCDBD7"/>
          </a:solidFill>
          <a:ln/>
        </p:spPr>
      </p:sp>
      <p:sp>
        <p:nvSpPr>
          <p:cNvPr id="42" name="Text 40"/>
          <p:cNvSpPr/>
          <p:nvPr/>
        </p:nvSpPr>
        <p:spPr>
          <a:xfrm>
            <a:off x="1322070" y="7220664"/>
            <a:ext cx="658406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por tonelada</a:t>
            </a:r>
            <a:endParaRPr lang="en-US" sz="2250" dirty="0"/>
          </a:p>
        </p:txBody>
      </p:sp>
      <p:sp>
        <p:nvSpPr>
          <p:cNvPr id="43" name="Text 41"/>
          <p:cNvSpPr/>
          <p:nvPr/>
        </p:nvSpPr>
        <p:spPr>
          <a:xfrm>
            <a:off x="7269480" y="7163514"/>
            <a:ext cx="20955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103,8</a:t>
            </a:r>
            <a:endParaRPr lang="en-US" sz="3000" dirty="0"/>
          </a:p>
        </p:txBody>
      </p:sp>
      <p:sp>
        <p:nvSpPr>
          <p:cNvPr id="44" name="Text 42"/>
          <p:cNvSpPr/>
          <p:nvPr/>
        </p:nvSpPr>
        <p:spPr>
          <a:xfrm>
            <a:off x="9517380" y="7220664"/>
            <a:ext cx="136207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kg/t</a:t>
            </a:r>
            <a:endParaRPr lang="en-US" sz="2250" dirty="0"/>
          </a:p>
        </p:txBody>
      </p:sp>
      <p:sp>
        <p:nvSpPr>
          <p:cNvPr id="45" name="Text 43"/>
          <p:cNvSpPr/>
          <p:nvPr/>
        </p:nvSpPr>
        <p:spPr>
          <a:xfrm>
            <a:off x="10717531" y="7220664"/>
            <a:ext cx="209550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2,91 kg</a:t>
            </a:r>
            <a:endParaRPr lang="en-US" sz="2250" dirty="0"/>
          </a:p>
        </p:txBody>
      </p:sp>
      <p:sp>
        <p:nvSpPr>
          <p:cNvPr id="46" name="Text 44"/>
          <p:cNvSpPr/>
          <p:nvPr/>
        </p:nvSpPr>
        <p:spPr>
          <a:xfrm>
            <a:off x="12965431" y="7220664"/>
            <a:ext cx="440055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538 t CO₂/año ÷ 5.185 t/año</a:t>
            </a:r>
            <a:endParaRPr lang="en-US" sz="2250" dirty="0"/>
          </a:p>
        </p:txBody>
      </p:sp>
      <p:sp>
        <p:nvSpPr>
          <p:cNvPr id="47" name="Shape 45"/>
          <p:cNvSpPr/>
          <p:nvPr/>
        </p:nvSpPr>
        <p:spPr>
          <a:xfrm>
            <a:off x="1047750" y="8107680"/>
            <a:ext cx="16192500" cy="1154430"/>
          </a:xfrm>
          <a:prstGeom prst="roundRect">
            <a:avLst>
              <a:gd name="adj" fmla="val 8251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360170" y="8324850"/>
            <a:ext cx="16053435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1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Lectura. </a:t>
            </a:r>
            <a:pPr algn="l" indent="0" marL="0">
              <a:lnSpc>
                <a:spcPct val="112500"/>
              </a:lnSpc>
              <a:buNone/>
            </a:pPr>
            <a:r>
              <a:rPr lang="en-US" sz="2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planta arma módulos, no transforma materia: producto liviano y voluminoso, con el consumo concentrado en el HVAC y el laminado. Por eso informamos también la energía en la unidad propia de la industria: 15,38 MWh por MWp.</a:t>
            </a:r>
            <a:endParaRPr lang="en-US" sz="2100" dirty="0"/>
          </a:p>
        </p:txBody>
      </p:sp>
      <p:sp>
        <p:nvSpPr>
          <p:cNvPr id="49" name="Text 47"/>
          <p:cNvSpPr/>
          <p:nvPr/>
        </p:nvSpPr>
        <p:spPr>
          <a:xfrm>
            <a:off x="1047750" y="9471660"/>
            <a:ext cx="813027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9 · Fase 3 · Consumos específicos · informe Fase 3, sección 10 · Tabla 10.1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6585049" y="9471660"/>
            <a:ext cx="7314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96" kern="0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CIERRE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86840"/>
            <a:ext cx="74295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905000" y="1470660"/>
            <a:ext cx="8792849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materia cierra al </a:t>
            </a:r>
            <a:pPr algn="l" indent="0" marL="0">
              <a:lnSpc>
                <a:spcPct val="104167"/>
              </a:lnSpc>
              <a:buNone/>
            </a:pPr>
            <a:r>
              <a:rPr lang="en-US" sz="2550" b="1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100,00 %</a:t>
            </a:r>
            <a:pPr algn="l" indent="0" marL="0">
              <a:lnSpc>
                <a:spcPct val="104167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047750" y="3265170"/>
            <a:ext cx="74295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905000" y="3348990"/>
            <a:ext cx="8233304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cuello es C-101, con </a:t>
            </a:r>
            <a:pPr algn="l" indent="0" marL="0">
              <a:lnSpc>
                <a:spcPct val="104167"/>
              </a:lnSpc>
              <a:buNone/>
            </a:pPr>
            <a:r>
              <a:rPr lang="en-US" sz="2550" b="1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84,1 % </a:t>
            </a:r>
            <a:pPr algn="l" indent="0" marL="0">
              <a:lnSpc>
                <a:spcPct val="104167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utilización y 35.135 mód/año de margen.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047750" y="5526405"/>
            <a:ext cx="74295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905000" y="5610225"/>
            <a:ext cx="8233304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planta consume </a:t>
            </a:r>
            <a:pPr algn="l" indent="0" marL="0">
              <a:lnSpc>
                <a:spcPct val="104167"/>
              </a:lnSpc>
              <a:buNone/>
            </a:pPr>
            <a:r>
              <a:rPr lang="en-US" sz="2550" b="1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1.537,52 MWh/año </a:t>
            </a:r>
            <a:pPr algn="l" indent="0" marL="0">
              <a:lnSpc>
                <a:spcPct val="104167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demanda un transformador de 500 kVA.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047750" y="7787640"/>
            <a:ext cx="74295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905000" y="7871460"/>
            <a:ext cx="8792849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energía específica es </a:t>
            </a:r>
            <a:r>
              <a:rPr lang="en-US" sz="2550" dirty="0" b="1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296,52 kWh/t</a:t>
            </a:r>
            <a:r>
              <a:rPr lang="en-US" sz="255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2550" dirty="0" b="1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15,38 MWh/MWp</a:t>
            </a:r>
            <a:r>
              <a:rPr lang="en-US" sz="255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0431899" y="1386840"/>
            <a:ext cx="6808351" cy="2308860"/>
          </a:xfrm>
          <a:prstGeom prst="roundRect">
            <a:avLst>
              <a:gd name="adj" fmla="val 4125"/>
            </a:avLst>
          </a:prstGeom>
          <a:ln w="7620">
            <a:solidFill>
              <a:srgbClr val="1E3D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44320" y="1661160"/>
            <a:ext cx="680186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ACTUAR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744320" y="2038350"/>
            <a:ext cx="6369016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625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calor de la cámara de laminación y aislar placas y campana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744320" y="2777490"/>
            <a:ext cx="6369016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625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Instrumentar laminadora y HVAC: son los que gobiernan el consumo específico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0431899" y="3886200"/>
            <a:ext cx="6808351" cy="4411980"/>
          </a:xfrm>
          <a:prstGeom prst="roundRect">
            <a:avLst>
              <a:gd name="adj" fmla="val 2159"/>
            </a:avLst>
          </a:prstGeom>
          <a:ln w="7620">
            <a:solidFill>
              <a:srgbClr val="1E3D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44320" y="4160520"/>
            <a:ext cx="680186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A VALIDAR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744320" y="4537710"/>
            <a:ext cx="6369016" cy="1003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625"/>
              </a:lnSpc>
              <a:buNone/>
            </a:pPr>
            <a:r>
              <a:rPr lang="en-US" sz="1950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de emisión vigente [10] · potencias sin ficha · coeficientes de scrap · rendimiento térmico de la laminadora · precio de la energía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047750" y="8641080"/>
            <a:ext cx="16192500" cy="9525"/>
          </a:xfrm>
          <a:prstGeom prst="rect">
            <a:avLst/>
          </a:prstGeom>
          <a:solidFill>
            <a:srgbClr val="1E3D55"/>
          </a:solidFill>
          <a:ln/>
        </p:spPr>
      </p:sp>
      <p:sp>
        <p:nvSpPr>
          <p:cNvPr id="19" name="Text 17"/>
          <p:cNvSpPr/>
          <p:nvPr/>
        </p:nvSpPr>
        <p:spPr>
          <a:xfrm>
            <a:off x="1047750" y="8915400"/>
            <a:ext cx="797233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481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·</a:t>
            </a:r>
            <a:pPr algn="l" indent="0" marL="0">
              <a:lnSpc>
                <a:spcPct val="81481"/>
              </a:lnSpc>
              <a:buNone/>
            </a:pPr>
            <a:r>
              <a:rPr lang="en-US" sz="6600" b="1" i="1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6600" dirty="0"/>
          </a:p>
        </p:txBody>
      </p:sp>
      <p:sp>
        <p:nvSpPr>
          <p:cNvPr id="20" name="Text 18"/>
          <p:cNvSpPr/>
          <p:nvPr/>
        </p:nvSpPr>
        <p:spPr>
          <a:xfrm>
            <a:off x="14033350" y="9471660"/>
            <a:ext cx="32069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9 · [integrantes] · 10 / 10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2026-09-27T20:52:21Z</dcterms:created>
  <dcterms:modified xsi:type="dcterms:W3CDTF">2026-09-27T20:52:21Z</dcterms:modified>
</cp:coreProperties>
</file>